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Revenue ($m,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569</c:v>
                </c:pt>
                <c:pt idx="1">
                  <c:v>595</c:v>
                </c:pt>
                <c:pt idx="2">
                  <c:v>624</c:v>
                </c:pt>
                <c:pt idx="3">
                  <c:v>620</c:v>
                </c:pt>
                <c:pt idx="4">
                  <c:v>477</c:v>
                </c:pt>
                <c:pt idx="5">
                  <c:v>525</c:v>
                </c:pt>
                <c:pt idx="6">
                  <c:v>555</c:v>
                </c:pt>
                <c:pt idx="7">
                  <c:v>640</c:v>
                </c:pt>
                <c:pt idx="8">
                  <c:v>574</c:v>
                </c:pt>
                <c:pt idx="9">
                  <c:v>610</c:v>
                </c:pt>
                <c:pt idx="10">
                  <c:v>638</c:v>
                </c:pt>
                <c:pt idx="11">
                  <c:v>687</c:v>
                </c:pt>
                <c:pt idx="1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06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5A97"/>
              </a:solidFill>
              <a:effectLst/>
            </c:spPr>
          </c:dPt>
          <c:dPt>
            <c:idx val="3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bubble3D val="0"/>
            <c:spPr>
              <a:solidFill>
                <a:srgbClr val="006633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Home delivery 48%</c:v>
                </c:pt>
                <c:pt idx="1">
                  <c:v>Dine-in 17%</c:v>
                </c:pt>
                <c:pt idx="2">
                  <c:v>Takeaway 16%</c:v>
                </c:pt>
                <c:pt idx="3">
                  <c:v>Kiosks 15%</c:v>
                </c:pt>
                <c:pt idx="4">
                  <c:v>Drive-thru 8%</c:v>
                </c:pt>
                <c:pt idx="5">
                  <c:v>Other 1%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AMR / 6015 in USD equivalent (FX-pegged)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 USD price</c:v>
                </c:pt>
              </c:strCache>
            </c:strRef>
          </c:tx>
          <c:spPr>
            <a:solidFill>
              <a:srgbClr val="E10600"/>
            </a:solidFill>
            <a:ln w="38100" cap="flat">
              <a:solidFill>
                <a:srgbClr val="E10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0600"/>
              </a:solidFill>
              <a:ln w="9525" cap="flat">
                <a:solidFill>
                  <a:srgbClr val="E10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Dec'22</c:v>
                  </c:pt>
                  <c:pt idx="1">
                    <c:v>Q1'23</c:v>
                  </c:pt>
                  <c:pt idx="2">
                    <c:v>Q2'23</c:v>
                  </c:pt>
                  <c:pt idx="3">
                    <c:v>Q3'23</c:v>
                  </c:pt>
                  <c:pt idx="4">
                    <c:v>Q4'23</c:v>
                  </c:pt>
                  <c:pt idx="5">
                    <c:v>Q1'24</c:v>
                  </c:pt>
                  <c:pt idx="6">
                    <c:v>Q2'24</c:v>
                  </c:pt>
                  <c:pt idx="7">
                    <c:v>Q3'24</c:v>
                  </c:pt>
                  <c:pt idx="8">
                    <c:v>Q4'24</c:v>
                  </c:pt>
                  <c:pt idx="9">
                    <c:v>Q1'25</c:v>
                  </c:pt>
                  <c:pt idx="10">
                    <c:v>Q2'25</c:v>
                  </c:pt>
                  <c:pt idx="11">
                    <c:v>Q3'25</c:v>
                  </c:pt>
                  <c:pt idx="12">
                    <c:v>Q4'25</c:v>
                  </c:pt>
                  <c:pt idx="13">
                    <c:v>Q1'26</c:v>
                  </c:pt>
                  <c:pt idx="14">
                    <c:v>May'26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0.82</c:v>
                </c:pt>
                <c:pt idx="1">
                  <c:v>1</c:v>
                </c:pt>
                <c:pt idx="2">
                  <c:v>1.07</c:v>
                </c:pt>
                <c:pt idx="3">
                  <c:v>1.18</c:v>
                </c:pt>
                <c:pt idx="4">
                  <c:v>0.81</c:v>
                </c:pt>
                <c:pt idx="5">
                  <c:v>0.89</c:v>
                </c:pt>
                <c:pt idx="6">
                  <c:v>0.85</c:v>
                </c:pt>
                <c:pt idx="7">
                  <c:v>0.73</c:v>
                </c:pt>
                <c:pt idx="8">
                  <c:v>0.61</c:v>
                </c:pt>
                <c:pt idx="9">
                  <c:v>0.56</c:v>
                </c:pt>
                <c:pt idx="10">
                  <c:v>0.59</c:v>
                </c:pt>
                <c:pt idx="11">
                  <c:v>0.54</c:v>
                </c:pt>
                <c:pt idx="12">
                  <c:v>0.45</c:v>
                </c:pt>
                <c:pt idx="13">
                  <c:v>0.51</c:v>
                </c:pt>
                <c:pt idx="14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ANALYST LEARNING PACK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Americana Restaurants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E1F2"/>
                </a:solidFill>
              </a:rPr>
              <a:t>International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2"/>
                </a:solidFill>
              </a:rPr>
              <a:t>ADX:AMR  ·  Tadawul:6015  ·  ADGM-incorporated 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Onboarding deep-dive — Company, Industry, Peers, 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from FY25 Annual Report · UAE Prospectus (Nov 2022) · Mordor Intelligence · USDA FAS · Alpen Capital · Bloomberg / Perplexity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The 60-second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FY25 results (year ended Dec 31, 2025); 1Q26 reported May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$2,508.8m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+14.2%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+170 bps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income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$219.1m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+38%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+9.7%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All 4 power brands +ve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2,749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12 countries; +159 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2918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Free cash 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$209m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FCF conversion 58%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Zero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$300m liquidity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828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Market cap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~$14bn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AMR + 6015 fungible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WHAT TO REMEMBER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Largest QSR operator in MENA + Kazakhstan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11 brands (94% of revenue from 4 power brands: KFC, Pizza Hut, Hardee's, Krispy Kreme). Zero debt, 92% dividend payout in FY25.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9E1F2"/>
                </a:solidFill>
              </a:rPr>
              <a:t>Owned 66% by Adeptio (Mohamed Alabbar + Saudi PIF, 50/50); free float 34%. Dual-listed Dec 2022.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p.31 dashboard · 4Q25 deck · 1Q26 release (May 5, 2026)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is Americana,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ELEVATOR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Americana is the master franchisee for KFC, Pizza Hut, Hardee's, Krispy Kreme and 7 other brands across 12 countries in the Middle East, North Africa and Kazakhstan. Founded 1964 in Kuwait. Take-private by Mohamed Alabbar + Saudi PIF in 2017. IPO'd Dec 2022 — first-ever GCC dual listing.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Largest QSR operator in MENA — store base exceeds the next 4 players combined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Yum! Brands' largest international franchisee for KFC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80%+ revenue from USD-pegged currencies (GCC + Jordan) — FX-stable cash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Penetration is 3-8x lower per capita than developed markets — long structural runway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 identity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Founded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1964, Kuwait (Mohammed Al-Kharafi)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Incorporation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221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Abu Dhabi Global Market (ADGM)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9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569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Sharjah, UAE (Tower A, Al Rayyan)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950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16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916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Amarpal Singh Sandhu (since 2022)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23697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Chairman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Mohamed Ali Rashed Alabbar (Emaar founder)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8444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Shareholders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Adeptio 66% · Free float 34%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Adeptio owners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959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Alabbar 50% · Saudi PIF 50%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068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Employees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30682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~39,400 (FY25)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62686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4654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2,749 across 12 countries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97433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001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Brands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001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11 (KFC, PH, Hardee's, KK + 7 more)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532180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49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Listings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349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ADX:AMR · Tadawul:6015 (fungible)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696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IPO 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5696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12 Dec 2022 — sold 30% at AED 2.62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Annual Report · UAE Prospectus 2022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60-year journey: Kharafi → Adeptio → IPO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1964 – 1985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Foundation in Kuwait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1964 — Kuwait Food Co. founded by Al-Kharafi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1970–73 — Wimpy, KFC franchise wins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1979–80 — Pizza Hut, Hardee's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1984 — Parent listed on KSE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1985 – 2016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Pan-MENA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572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1994 — TGI Fridays added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2001 — Morocco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2004–06 — Costa, Krispy Kreme franchises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2008 — Kazakhstan entry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2014 — Iraq (Kurdistan)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2016 – 2018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Adeptio take-private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2016 Q4 — Alabbar + PIF acquire Kharafi stake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Mandatory tender offer to 96%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2017 — New mgmt; 'Americana values'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Apr 2018 — De-listed from KSE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71600"/>
            <a:ext cx="1874520" cy="73152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A97"/>
                </a:solidFill>
              </a:rPr>
              <a:t>2018 – 2021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Operational turnaround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Brand portfolio cleanup: 20 → 11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SuperApp rollout (7 countries by 2021)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Own delivery fleet built (7,800 drivers)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EBITDA margin 13% → 17% pre-IFRS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371600"/>
            <a:ext cx="1874520" cy="7315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</a:rPr>
              <a:t>Dec 2022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Dual IPO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5644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First-ever GCC concurrent IPO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ADX:AMR + Tadawul:6015 (same ISIN)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30% sold by Adeptio (~$1.8bn)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AED 2.62 / SAR 2.68 IPO price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0" y="1371600"/>
            <a:ext cx="1874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1371600"/>
            <a:ext cx="18745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76688" y="1508760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2023 –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76688" y="1810512"/>
            <a:ext cx="1655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A1A"/>
                </a:solidFill>
              </a:rPr>
              <a:t>Boycott → recovery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76688" y="2194560"/>
            <a:ext cx="16550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Sep 2023 — Stock ATH at AED 4.54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Oct 2023 — Gaza boycott begins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FY24 — Revenue −9%, NI −39%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FY25 — Recovery: +14% rev, +38% NI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6B7280"/>
                </a:solidFill>
              </a:rPr>
              <a:t>Feb 2026 — Malak Al Tawouk license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Today: 11 brands, 12 countries, 2,749 restaurants, $2.5bn revenue, $14bn market cap, zero net debt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p.52 · FY25 AR p.29 'Our Journey'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Ownership: who's behind Americana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Beneficial ownership chain — 8,424 Mn shares · 66% Adeptio (Alabbar + Saudi PIF, 50/50) · 34% public free float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50876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600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Americana Restaurants International PLC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E7E5"/>
                </a:solidFill>
              </a:rPr>
              <a:t>ADX:AMR · Tadawul:6015 · ADGM-incorporated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2402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7E5"/>
                </a:solidFill>
              </a:rPr>
              <a:t>8,424 Mn shares outstanding · ~$14bn market cap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542032"/>
            <a:ext cx="6675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7E5"/>
                </a:solidFill>
              </a:rPr>
              <a:t>⬇  Owned by: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017520"/>
            <a:ext cx="55778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Adeptio AD Investments Ltd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(via Adeptio AD Holdings Ltd)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600"/>
                </a:solidFill>
              </a:rPr>
              <a:t>66.03%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</a:rPr>
              <a:t>5,562 Mn shares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CE7DA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Public Free Float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Institutional + retail across ADX + Tadawul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33.97%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~2,836 Mn shares · includes 25 Mn treasury (LTIP)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4709160"/>
            <a:ext cx="0" cy="27432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4983480"/>
            <a:ext cx="34747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Mohamed Alabbar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Founder of Emaar Properties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PIF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via Saudi Co. for Gulf Food Investments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5212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257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0600"/>
                </a:solidFill>
              </a:rPr>
              <a:t>FREE FLOAT — KEY POINTS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5532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78% UAE-local · 22% GCC · &lt;0.1% foreign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97% institutional / 3% individual retail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 single non-Adeptio holder &gt;5%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338560" cy="0"/>
          </a:xfrm>
          <a:prstGeom prst="rect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— Corporate Governance · UAE Prospectus 2022 (Adeptio Acquisition) · ADX/Tadawul shareholder register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11 brands — but 4 generate 94% of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POWER BRANDS · 94% of revenue · 89% of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60604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KFC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1,146 stores · 60% rev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drive-thru-led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26060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Hardee's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457 stores · 17%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CKE Holdings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2606040" cy="91440"/>
          </a:xfrm>
          <a:prstGeom prst="rect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Pizza Hut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458 stores · 13%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delivery-heavy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783080"/>
            <a:ext cx="2606040" cy="914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Krispy Kreme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395 stores · 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Indulgence master franchise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74720"/>
            <a:ext cx="73152" cy="1828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5A97"/>
                </a:solidFill>
              </a:rPr>
              <a:t>OTHER FRANCHISES · 6% of revenue, broader portfolio appeal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TGI Fridays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43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Casual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96896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Baskin Robbins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96896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74 stores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6896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1986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96896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Indulgence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34256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3984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Costa Coffee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43984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68 stores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3984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43984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EG/KZ/JO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Peet's Coffee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38 stores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New (UAE/KSA)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carpo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3816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— stores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Greek; launches 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7552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8524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Malak Al Tawouk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8524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10 stores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8524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8524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75-yr license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</a:rPr>
              <a:t>PROPRIETARY BRANDS · Owned IP (no franchise fees)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Wimpy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(37 stores · since 1969 · KW/EG/UAE) — burger specialist; relaunch underway.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Chicken Tikka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(30 stores · since 1971 · KW/EG/KSA/UAE) — Indian-inspired QSR.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p.20-28 · 4Q25 deck slide 28 · UAE Prospectus brand sections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12 countries · 2,749 restaurants — top 4 = 78% of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" name="Image 0" descr="/sessions/zen-zealous-clarke/mnt/Claude_Filed--Americana Restaurants/Charts/Americana_Map_V4_MapPlus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114300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4 revenue: UAE $844m (34%) · KSA $630m (25%) · Kuwait $347m (14%) · Egypt $173m (7%) — together 79% of revenue.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 · 4Q25 deck slide 28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Country economics: revenue share vs. growth, risk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143000"/>
                <a:gridCol w="960120"/>
                <a:gridCol w="1874520"/>
                <a:gridCol w="11430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$m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FX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UAE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Strong (tourism)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Vision 2030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Kuwait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Mature, 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EGP −38% (Mar 24)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Kazakhstan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KZT volatile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Long runway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Qatar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Oman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PH Oman added FY25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Bahrain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Jordan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Iraq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Newest market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Lebanon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Hyperinflation (IAS 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Survival mode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83% of revenue in USD-pegged currencies. Egypt is the biggest non-pegged risk. Lebanon is small but hyperinflationary.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segment notes p.121 · UAE Prospectus market share p.56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Financial profile — margins, cash, capital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P&amp;L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$2,508.8m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23.7% (+170 bps)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4-Wall EBITDA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30.2% (+130 bps)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income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8.7%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+9.7%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KFC share of rev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60%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BALANCE SHEET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Zero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Liquidity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$299.6m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assets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$1,734m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$490m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NWC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−9.9%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Investment-grade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Implied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CASH &amp; CAPITAL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FY25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conversion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58%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$125m (5.0% rev)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FY25 dividend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6696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$201.6m (92% payout)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Stated div policy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~50% of NI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210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Payback / new store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&lt;3 years (KFC 2.3y)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687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KEY DEBATE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the 92% payout sustainable? Stated 50% policy was reset upward in FY25 reflecting zero debt + $300m liquidity + light capex needs. Watch for FY26 commentary.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Financial 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Quarterly trajectory — boycott trough to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354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full quarter as public co. Smooth print.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4Q23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544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Gaza boycott begins (Oct 7); early hit visible.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TROUGH. Rev −16% YoY. NI −51% to $28m.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3Q24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sequential improvement; mgmt 'worst behind us.'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03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977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Inflection: LFL +10%, EBITDA margin re-expands.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572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recovery. +14% rev, +38% NI, $209m FCF.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Continued momentum: +13% rev, +94% NI.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440680"/>
            <a:ext cx="11338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486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Like-for-like sales (% YoY)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+3%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1546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233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233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-18%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-12%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607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294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6294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980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980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667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+8%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2354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2354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1041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041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+11%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9728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+7%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Quarterly earnings releases 2023-2026 · 1Q26 release May 5,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Channel mix shift: delivery + kiosks doubling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FY25 CHANNEL SPLIT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EVOLUTION 2019 →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30%  →  48%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COVID-accelerated, now structural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Kiosks (self-order)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~0%  →  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Doubled YoY; 2,700+ deployed FY25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24612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Dine-in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3816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n/a  →  17%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5661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Declined relative share post-COVID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Drive-thru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n/a  →  8%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Critical for KFC (most KFC locations)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80060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Own-delivery vs aggregator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4846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n/a  →  81%/19%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Own 7,800-driver fleet; aggregators for acquisition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Important: delivery aggregators (Talabat, Jahez, HungerStation, Deliveroo) are channels not threats — Americana uses them for new-customer acquisition, fulfils 81% on own fleet.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p.30 · UAE Prospectus p.51 channel mix history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structure: how 20+ subsidiaries become one number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FY25 actual flow — from local restaurant operating companies up to consolidated shareholder profit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STRUCTURE — 3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41148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Americana Restaurants International PLC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Listed entity · ADGM (UAE) · ADX:AMR / Tadawul:6015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E7E5"/>
                </a:solidFill>
              </a:rPr>
              <a:t>WHAT YOU OWN AS A SHAREHOLDER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5029200" cy="685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Americana Holding for KSA / UAE / Egypt / etc — paperwork only, no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70332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MAJOR GCC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$1,821m rev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Al Ahlia (KSA)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Kuwait Food Co (UAE)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Americana KW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8308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023360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LOWER GULF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$258m rev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Qataria Food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1965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Intl Tourism (OM)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Bahrain/KW (BH)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0896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23360"/>
            <a:ext cx="1280160" cy="29260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N. AFRICA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$223m rev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Egyptian Intl (EG)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4553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Soc. Marocaine (MA)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023360"/>
            <a:ext cx="1280160" cy="2926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OTHERS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$238m rev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7141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Caspian (KZ)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7141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AFK American (IQ)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141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Lebanese (LB)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71416" y="538581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Jordanian (JO)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58521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B7280"/>
                </a:solidFill>
              </a:rPr>
              <a:t>~20 OPERATING SUBSIDIARIES across 12 COUNTRIES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HOW THE MATH ROLLS UP — FY25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17830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8562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REVENUE WATERFALL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all subsidiary revenues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95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$2,540.7m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550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intra-group sales eliminated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955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($31.9m)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Group consolidated revenue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95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$2,508.8m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PROFIT WATERFALL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subsidiary net profits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$255.4m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581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central costs, FX, hyperinflation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($36.9m)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4910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Total group net profit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95560" y="4910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$218.5m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355080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Add: minority interest loss (Jordan etc.)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95560" y="5239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+$0.6m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55080" y="5568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Attributable to AMR shareholders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95560" y="5568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$219.1m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GCC alone (KSA + UAE + KW) produces 98% of net profit. Minority interests in Jordan + Bahrain take a small cut. 14% effective tax rate.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Note 29 (Subsidiaries) + Note 5 (Segment Reporting) + Note 8 (Tax)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 detail: 22 subsidiaries with ownership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3-layer hierarchy from listed PLC down to country operating entities · Ownership % shown per country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50876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5087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Americana Restaurants International PLC (Parent)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892808"/>
            <a:ext cx="0" cy="210312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1031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5059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54864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 Operating Subsidiaries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non-restaurant subsidiaries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83280"/>
            <a:ext cx="49377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Major GCC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Saudi Arabia (2)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UAE (2)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75% &amp; 100%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9728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Kuwait (1)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Lower Gulf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Qatar (2)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99% &amp; 100%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Oman (2)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Bahrain (2)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6032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40% &amp; 94%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North Africa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3931920"/>
            <a:ext cx="0" cy="68580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Egypt (2)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99.9% &amp; 100%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Morocco (1)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377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Others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931920"/>
            <a:ext cx="0" cy="150876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Iraq (2)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064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3776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Jordan (2)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both 67%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Kazakhstan (1)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37760" y="533095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5257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Lebanon (1)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54406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239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80960" y="3383280"/>
            <a:ext cx="2286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66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5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United Food Co.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281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Americana (India)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995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KSA — Sub-OpCo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995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281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G&amp;A offshoring centre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281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5897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</a:rPr>
              <a:t>OWNERSHIP COLOR LEGEND: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743200" y="589788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● 100% wholly owned</a:t>
            </a:r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</a:rPr>
              <a:t>    ● 75-99% (small local partner)</a:t>
            </a:r>
            <a:pPr indent="0" marL="0">
              <a:buNone/>
            </a:pPr>
            <a:r>
              <a:rPr lang="en-US" sz="900" b="1" dirty="0">
                <a:solidFill>
                  <a:srgbClr val="E10600"/>
                </a:solidFill>
              </a:rPr>
              <a:t>    ● &lt;75% (significant minority)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minorities to model: Jordan (both entities 67%) · Bahrain (one entity at 40%, consolidated via contract) · UAE (one entity at 75%)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Note 29 (Subsidiaries), pp. 220-223 · Note 16 (Non-controlling interests)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The industry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MENA foodservice market — size, drivers,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Sourced from Mordor Intelligence · USDA FAS · Alpen Capital · Euromonitor (via Americana UAE Prospectus 2022)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MENA / GCC foodservice market — sizing and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GCC FOODSERVICE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$62.2 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2025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$122.2 bn by 2031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600"/>
                </a:solidFill>
              </a:rPr>
              <a:t>12.1% CAGR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Source: Mordor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Arabia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$30.1 bn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$48.1 bn by '31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80160"/>
            <a:ext cx="7315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UAE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$23.2 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6696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17.6% CAGR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$61.2 bn by '31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73152" cy="10972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Egypt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371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$10.4 bn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A97"/>
                </a:solidFill>
              </a:rPr>
              <a:t>14.3% CAGR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$23.1 bn by '31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032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Kuwait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$3.5 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$5.6 bn by '31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11338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SOURCE RECONCILIATION — these numbers don't always agree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Mordor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$30.1 bn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Tight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USDA FAS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45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 bn (2024)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6451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High confidence consensus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Mordor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4919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$23.2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919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Includes cloud kitchens, broader scope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93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USDA FAS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5193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$18.6 bn (2024)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5193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$18-23bn range; ~$5bn scope gap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468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Americana's 12-country OOHD (Euromonitor)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$56 bn (2021)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5468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Older; ~$72-80bn by '25 at 14% CAGR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Alpen Capital — GCC food consumption (volume)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5742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50.9 mn MT (2024)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57424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55.5 mn MT '29 at 1.7% CAGR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UAE is the fastest-growing GCC market per Mordor (17.6% CAGR) — Americana has 24% of stores and 34% of revenue there.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Mordor Intelligence (May 2026 previews) · USDA FAS HRI Annual reports · Alpen Capital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Structural demand drivers — which are real?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270m+ population in Americana's footprint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55% under age 30 (vs 37%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Population CAGR 1.4% (vs 0.5%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Rising female workforce (KSA 36% vs 15% a decade ago)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188720"/>
            <a:ext cx="5486400" cy="38404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MACRO / TOURISM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12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GDP CAGR 6.8% USD (vs 4.5%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Vision 2030: KSA targeting 150m+ tourists by 2030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Dubai 14.8m visitors (2023), 16m forecast 2024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Mega-projects: NEOM, Qiddiya, Red Sea, Diriyah, Ras El-Hekma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8404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CHANNEL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30% (2019) → 48% (FY25) — and rising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Kiosks went 0 → 15% of sales in 5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Online food delivery KSA: $8.5bn (2024) → $12bn (2030)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Cloud kitchens fastest growing GCC sub-segment (13.2% CAGR)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66160"/>
            <a:ext cx="54864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PENETRATION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Restaurants per 10k pop: 3x lower vs developed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Chained QSR per 10k: 8x lower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KFC per 10k: 1/3 of US, 1/6 of Malaysia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Massive whitespace at current density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HEADWINDS: Boycott exposure (US brands); Egypt FX (EGP −38% 2024); Pillar II tax (UAE 9% → 15%, KW/BH 0% → 15%); rising labour &amp; rent costs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p.56 (Euromonitor) · Mordor previews · USDA FAS · PWC consumer report (cited in FY25 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Competitive landscape — who else is in Americana's markets?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LOCAL CHAINS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AlBaik (KSA)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Iconic Saudi fried chicken; 150 stores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Maestro Pizza (KSA)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170 outlets; competes with PH/Domino's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Kudu (KSA)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350+ branches; sandwich QSR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Apparel Group (UAE)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Multi-brand operator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 Khaja (UAE)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0.5% UAE market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GLOBAL QSR (via OTHER franchisees)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McDonald's (Alyousef / KMR)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2.4% UAE share; #2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RBI: BK, Tims, Popeyes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Various franchisees; 1.6% UAE 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Subway (Doctor's Assoc.)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1.1% UAE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Starbucks (Alshaya)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1.2% UAE share; coffee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Shake Shack (Alshaya)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Premium burger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P.F. Chang's, Cheesecake, Chipotle (Alshaya)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Casual / fast-casual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DELIVERY AGGREGATORS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Talabat (Delivery Hero)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Largest MENA aggregator; DFM-listed Dec '24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HungerStation (DHER)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 market leader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Jahez (Tadawul: 6017)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KSA-listed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Deliveroo (LSE: ROO)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8388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UAE/KW/BH/QA premium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Careem Eats (Uber)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UAE/KSA/EG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Glovo, Yango, Akelni, Mrsool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Smaller markets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UAE is the most competitive market — top 5 chains = only 9.3% combined. Americana's 71% serviced-segment share is in a narrower 'chained international QSR' subset.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USDA UAE HRI TC2024-0012 (top-10 chain market share table) · USDA Saudi SA2025-0019 (local chains)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Peers &amp; 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Where Americana trades vs MENA, India QSR, and global benchmarks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Multiples as of mid-May 2026 from public aggregators (stockanalysis.com, SEC, Macrotrends, GuruFocus).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Peer set — why these names, and not others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MENA-LISTED (LIMITED UNIVERSE)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Herfy Food Services (6002) — Saudi QSR,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Almarai (2280) — Saudi F&amp;B (dairy-led, larger)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CATRION Catering (6004) — airline F&amp;B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Jahez (6017) — Saudi delivery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Hero (DHER) — Talabat parent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INDIA QSR — CLOSEST FUNCTIONAL ANALOGS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Jubilant FoodWorks (JUBLFOOD) — Domino's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Devyani Intl (DEVYANI)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Sapphire Foods (SAPPHIRE)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Westlife Foodworld (WESTLIFE) — McDonald's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Asia (RBA) — BK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EM QSR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 China (YUMC) — KFC+PH master franchisee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Jollibee (JFC) — Philippines multi-brand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Mitra Adi Perkasa (MAPI) — Indonesia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657600"/>
            <a:ext cx="5486400" cy="411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QSR BENCHMARKS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Yum! Brands (YUM) — Americana's largest franchisor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McDonald's (MCD) — multiple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Intl (QSR) — BK/Tims/Popeyes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Domino's Pizza (DPZ) — pizza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Starbucks (SBUX) — coffee benchmark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QSR is the closest functional comp: same multi-brand EM franchisee model, same Yum brands (Devyani, Sapphire).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See Excel workbook: Peer Universe tab for full descriptions and rationale per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Valuation: AMR sits between MENA and India QSR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75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371600"/>
                <a:gridCol w="1645920"/>
                <a:gridCol w="1737360"/>
                <a:gridCol w="150876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Mkt cap ($m)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P/E LTM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Div yield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Americana (AMR)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14,010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63.9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MENA peers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Almarai (2280)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11,429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CATRION (6004)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Herfy (6002)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India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Jubilant (JUBLFOOD)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4,320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119.0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35.0x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Devyani (DEVYANI)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Westlife (WESTLIFE)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30.0x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Asia / global EM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 China (YUMC)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16,620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9.2x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Jollibee (JFC)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13.2%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Global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Yum! (YUM)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McDonald's (MCD)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217,290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49.0%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Domino's (DPZ)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12,310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AMR trades at ~63x LTM P/E (high) but FY25 base is depressed; on forward P/E (~25x) AMR is in line with global QSR, below India QSR.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stockanalysis.com / SEC EDGAR / Macrotrends / GuruFocus, mid-May 2026; see Excel Valuation Comp tab for full table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Stock price: $0.82 IPO → $1.18 ATH → $0.42 ATL → $0.50 today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PRICE EVENTS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Dec '22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IPO at AED 2.62 / SAR 2.68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Sep '23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ATH AED 4.54 (~$1.18) on margin expansion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Oct '23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Gaza war → boycott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−45% over the year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Jan '26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ATL AED 1.55 (~$0.42)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Feb '26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+15% on FY25 results + MAT deal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0" y="4617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Stable $0.50; consolidating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760720"/>
            <a:ext cx="113385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FUNGIBILITY: ADX and Tadawul listings are same ISIN, transfers via Edaa. AED and SAR both pegged to USD, so prices track in lockstep — Tadawul tends to have deeper liquidity.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Yahoo Finance (6015.SR full history) · stockanalysis.com (AMR spot points)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Bull vs Bear — the key debates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BULL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Recovery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LFL +9.7%, EBITDA margin +170bps, FCF tripled.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Long runway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Penetration 3-8x below developed; KFC alone 1/6 of Malaysia.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Capital returns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92% payout in FY25 vs 50% policy. Zero debt + $300m cash.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M&amp;A optionality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MAT (75-yr license), carpo, PH Oman — bolt-on capability.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Aligned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PIF + Alabbar = Vision 2030 alignment + real estate access.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Operating leverage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120-130 net new stores guided for FY26; double-digit EBITDA growth.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Co-op + own SuperApp + dynamic pricing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88720"/>
            <a:ext cx="55321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BEAR 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Boycott recurrence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brands at risk of geopolitical events; −16% rev in 1Q24.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Egypt FX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EGP devalued 38% Mar '24. Hyperinflation in Lebanon. KZ volatile.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Tax headwinds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Pillar II: UAE 9→15%, KW/BH 0→15%, QA 10→15% — ~$14m FY25 drag.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Brand concentration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60% revenue from KFC alone — single-brand risk significant.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Premium multiple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P/E 64x LTM is high vs MENA peers; forward narrative dependent.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Saudi 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Local chains (AlBaik, Maestro) gaining; cloud kitchens disrupting.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Payout sustainability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92% payout vs 50% policy may not be repeatable indefinitely.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Mgmt guides FY26: mid-SD LFL · 120-130 net new stores · double-digit EBITDA &amp; NI growth · capex 5-6% of revenue.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Annual Report · 1Q26 release commentary · MS Initiation Jan 2023 (framework 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an analyst should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</a:rPr>
              <a:t>THE 7 THINGS THAT WILL MOVE THE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LFL growth trajectory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Mid-SD guided FY26. Each 100bps of LFL = ~$25m revenue. Quarterly check.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Geopolitical / boycott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3042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escalation in Israel-Gaza-Iran impacts US-brand QSR sentiment regionally.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M&amp;A cadence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871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MAT, carpo, PH Oman set the playbook. Look for 1-2 new bolt-ons / year.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Dividend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381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FY25 92% payout vs 50% policy. Will mgmt formally raise the policy?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Vision 2030 / tourism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Saudi mega-projects opening — Diriyah, Qiddiya, Red Sea — restaurant white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Egypt + FX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EGP stability; volume recovery in 450-store Egypt market.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9320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Capital Markets Day 17 Apr 2026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138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Already held — re-read transcript for medium-term targets.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UPCOMING CATALYSTS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FY26 quarterly results (Aug '26 H1, Nov '26 9M) · Annual dividend in Apr '26 · Any new MENA franchise win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· Capital Markets Day 17 Apr 2026 · 1Q26 release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Where to dig deeper — your reference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PRIMARY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FY25 Annual Report (the master doc)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UAE Prospectus Nov 2022 (296 pp; gold for industry)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KSA Supplement Prospectus Oct 2022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Quarterly Earnings Presentations (4Q25, 1Q26)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Earnings releases — every quarter since 1Q23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Bloomberg earnings call transcripts (12 quarters)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Perplexity AI transcripts (5 most recent calls)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Mordor Intelligence — GCC, KSA, UAE, Egypt, Kuwait (5 reports, public previews saved)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USDA FAS HRI Annuals — Saudi 2025, UAE 2024, Egypt 2024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Alpen Capital — GCC Food Industry Report 2025 (free w/ form)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Euromonitor (via Americana DRHP; full reports paywalled)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ANALYTICAL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Americana_Primer.html — interactive primer (timeline, brands, stock chart)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Americana_Industry_Peers_v2.xlsx — 14-sheet peer comp + industry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Charts/ — 4 high-res world maps (PNG, 300dpi)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Initiation (Jan 2023, 97pp)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Model (288917.6015.SE.XLSX)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Yahoo Finance 6015.SR (live price 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43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THE STARTING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If you're picking this up fresh: paste the structured ramp-up prompt (saved in conversation history) into a new session to skip rebuild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Shareholding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Cap table summary — FY25 year-end · 8.42 bn ordinary shares · No single non-Adeptio holder &gt;5%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" name="Image 0" descr="/sessions/zen-zealous-clarke/mnt/Claude_Filed--Americana Restaurants/Charts/Shareholding/V4_NoSource_For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32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— share register + Corporate Governance · UAE Prospectus 2022 (Adeptio structure)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E1F2"/>
                </a:solidFill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Americana Restaurants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Analyst Onboarding · Reference Pack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821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THIS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4381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standalone learning pack covering Americana from first principles. Use it as a refresher or as briefing material to share with colleagues new to the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Company history &amp; ownership · 11-brand portfolio · 12-country footprint · group structure · FY25 financial profile · MENA QSR industry sizing · structural drivers · 18-name peer comp · bull/bear case · watchlist.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WHAT'S NOT 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58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Detailed DCF · earnings model · downside scenario quants · investment recommendation. See the Excel workbook for tabular peer comp; see Morgan Stanley initiation + model for valuation framework.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May 19, 2026 · ADX:AMR · Tadawul:6015 · All data sourced from Americana FY25 AR, UAE Prospectus, Mordor, USDA FAS, Alpen Capital, Bloomberg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Restaurants — Analyst Learning Pack</dc:title>
  <dc:subject>PptxGenJS Presentation</dc:subject>
  <dc:creator>Analyst Desk</dc:creator>
  <cp:lastModifiedBy>Analyst Desk</cp:lastModifiedBy>
  <cp:revision>1</cp:revision>
  <dcterms:created xsi:type="dcterms:W3CDTF">2026-06-08T14:46:39Z</dcterms:created>
  <dcterms:modified xsi:type="dcterms:W3CDTF">2026-06-08T14:46:39Z</dcterms:modified>
</cp:coreProperties>
</file>