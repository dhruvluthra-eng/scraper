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F2430"/>
                </a:solidFill>
                <a:latin typeface="Arial"/>
              </a:rPr>
              <a:t>Store count by quarter (1Q22 - 1Q26)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 at quarter-end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1Q22</c:v>
                  </c:pt>
                  <c:pt idx="1">
                    <c:v>2Q22</c:v>
                  </c:pt>
                  <c:pt idx="2">
                    <c:v>3Q22</c:v>
                  </c:pt>
                  <c:pt idx="3">
                    <c:v>4Q22</c:v>
                  </c:pt>
                  <c:pt idx="4">
                    <c:v>1Q23</c:v>
                  </c:pt>
                  <c:pt idx="5">
                    <c:v>2Q23</c:v>
                  </c:pt>
                  <c:pt idx="6">
                    <c:v>3Q23</c:v>
                  </c:pt>
                  <c:pt idx="7">
                    <c:v>4Q23</c:v>
                  </c:pt>
                  <c:pt idx="8">
                    <c:v>1Q24</c:v>
                  </c:pt>
                  <c:pt idx="9">
                    <c:v>2Q24</c:v>
                  </c:pt>
                  <c:pt idx="10">
                    <c:v>3Q24</c:v>
                  </c:pt>
                  <c:pt idx="11">
                    <c:v>4Q24</c:v>
                  </c:pt>
                  <c:pt idx="12">
                    <c:v>1Q25</c:v>
                  </c:pt>
                  <c:pt idx="13">
                    <c:v>2Q25</c:v>
                  </c:pt>
                  <c:pt idx="14">
                    <c:v>3Q25</c:v>
                  </c:pt>
                  <c:pt idx="15">
                    <c:v>4Q25</c:v>
                  </c:pt>
                  <c:pt idx="16">
                    <c:v>1Q26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2029</c:v>
                </c:pt>
                <c:pt idx="1">
                  <c:v>2050</c:v>
                </c:pt>
                <c:pt idx="2">
                  <c:v>2090</c:v>
                </c:pt>
                <c:pt idx="3">
                  <c:v>2183</c:v>
                </c:pt>
                <c:pt idx="4">
                  <c:v>2228</c:v>
                </c:pt>
                <c:pt idx="5">
                  <c:v>2277</c:v>
                </c:pt>
                <c:pt idx="6">
                  <c:v>2338</c:v>
                </c:pt>
                <c:pt idx="7">
                  <c:v>2435</c:v>
                </c:pt>
                <c:pt idx="8">
                  <c:v>2456</c:v>
                </c:pt>
                <c:pt idx="9">
                  <c:v>2477</c:v>
                </c:pt>
                <c:pt idx="10">
                  <c:v>2504</c:v>
                </c:pt>
                <c:pt idx="11">
                  <c:v>2590</c:v>
                </c:pt>
                <c:pt idx="12">
                  <c:v>2630</c:v>
                </c:pt>
                <c:pt idx="13">
                  <c:v>2638</c:v>
                </c:pt>
                <c:pt idx="14">
                  <c:v>2657</c:v>
                </c:pt>
                <c:pt idx="15">
                  <c:v>2749</c:v>
                </c:pt>
                <c:pt idx="16">
                  <c:v>2741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F2430"/>
                </a:solidFill>
                <a:latin typeface="Arial"/>
              </a:rPr>
              <a:t>New-store payback by brand, years (4Q25 LTM)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payback, years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808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0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KFC</c:v>
                  </c:pt>
                  <c:pt idx="1">
                    <c:v>Hardee's</c:v>
                  </c:pt>
                  <c:pt idx="2">
                    <c:v>Group avg</c:v>
                  </c:pt>
                  <c:pt idx="3">
                    <c:v>Pizza Hut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</c:v>
                </c:pt>
                <c:pt idx="1">
                  <c:v>2.9</c:v>
                </c:pt>
                <c:pt idx="2">
                  <c:v>3.1</c:v>
                </c:pt>
                <c:pt idx="3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4-wall EBITDA margin %</c:v>
                </c:pt>
              </c:strCache>
            </c:strRef>
          </c:tx>
          <c:spPr>
            <a:solidFill>
              <a:srgbClr val="9AA0A8"/>
            </a:solidFill>
            <a:ln w="28575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1Q22</c:v>
                  </c:pt>
                  <c:pt idx="1">
                    <c:v>2Q22</c:v>
                  </c:pt>
                  <c:pt idx="2">
                    <c:v>3Q22</c:v>
                  </c:pt>
                  <c:pt idx="3">
                    <c:v>4Q22</c:v>
                  </c:pt>
                  <c:pt idx="4">
                    <c:v>1Q23</c:v>
                  </c:pt>
                  <c:pt idx="5">
                    <c:v>2Q23</c:v>
                  </c:pt>
                  <c:pt idx="6">
                    <c:v>3Q23</c:v>
                  </c:pt>
                  <c:pt idx="7">
                    <c:v>4Q23</c:v>
                  </c:pt>
                  <c:pt idx="8">
                    <c:v>1Q24</c:v>
                  </c:pt>
                  <c:pt idx="9">
                    <c:v>2Q24</c:v>
                  </c:pt>
                  <c:pt idx="10">
                    <c:v>3Q24</c:v>
                  </c:pt>
                  <c:pt idx="11">
                    <c:v>4Q24</c:v>
                  </c:pt>
                  <c:pt idx="12">
                    <c:v>1Q25</c:v>
                  </c:pt>
                  <c:pt idx="13">
                    <c:v>2Q25</c:v>
                  </c:pt>
                  <c:pt idx="14">
                    <c:v>3Q25</c:v>
                  </c:pt>
                  <c:pt idx="15">
                    <c:v>4Q25</c:v>
                  </c:pt>
                  <c:pt idx="16">
                    <c:v>1Q26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30.5</c:v>
                </c:pt>
                <c:pt idx="1">
                  <c:v>28.4</c:v>
                </c:pt>
                <c:pt idx="2">
                  <c:v>28.5</c:v>
                </c:pt>
                <c:pt idx="3">
                  <c:v>29</c:v>
                </c:pt>
                <c:pt idx="4">
                  <c:v>28.6</c:v>
                </c:pt>
                <c:pt idx="5">
                  <c:v>31.4</c:v>
                </c:pt>
                <c:pt idx="6">
                  <c:v>29.7</c:v>
                </c:pt>
                <c:pt idx="7">
                  <c:v>28.6</c:v>
                </c:pt>
                <c:pt idx="8">
                  <c:v>28.9</c:v>
                </c:pt>
                <c:pt idx="9">
                  <c:v>30</c:v>
                </c:pt>
                <c:pt idx="10">
                  <c:v>27.7</c:v>
                </c:pt>
                <c:pt idx="11">
                  <c:v>29</c:v>
                </c:pt>
                <c:pt idx="12">
                  <c:v>27.5</c:v>
                </c:pt>
                <c:pt idx="13">
                  <c:v>29.7</c:v>
                </c:pt>
                <c:pt idx="14">
                  <c:v>29.2</c:v>
                </c:pt>
                <c:pt idx="15">
                  <c:v>33.8</c:v>
                </c:pt>
                <c:pt idx="16">
                  <c:v>31.4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Adjusted EBITDA margin %</c:v>
                </c:pt>
              </c:strCache>
            </c:strRef>
          </c:tx>
          <c:spPr>
            <a:solidFill>
              <a:srgbClr val="028090"/>
            </a:solidFill>
            <a:ln w="28575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1Q22</c:v>
                  </c:pt>
                  <c:pt idx="1">
                    <c:v>2Q22</c:v>
                  </c:pt>
                  <c:pt idx="2">
                    <c:v>3Q22</c:v>
                  </c:pt>
                  <c:pt idx="3">
                    <c:v>4Q22</c:v>
                  </c:pt>
                  <c:pt idx="4">
                    <c:v>1Q23</c:v>
                  </c:pt>
                  <c:pt idx="5">
                    <c:v>2Q23</c:v>
                  </c:pt>
                  <c:pt idx="6">
                    <c:v>3Q23</c:v>
                  </c:pt>
                  <c:pt idx="7">
                    <c:v>4Q23</c:v>
                  </c:pt>
                  <c:pt idx="8">
                    <c:v>1Q24</c:v>
                  </c:pt>
                  <c:pt idx="9">
                    <c:v>2Q24</c:v>
                  </c:pt>
                  <c:pt idx="10">
                    <c:v>3Q24</c:v>
                  </c:pt>
                  <c:pt idx="11">
                    <c:v>4Q24</c:v>
                  </c:pt>
                  <c:pt idx="12">
                    <c:v>1Q25</c:v>
                  </c:pt>
                  <c:pt idx="13">
                    <c:v>2Q25</c:v>
                  </c:pt>
                  <c:pt idx="14">
                    <c:v>3Q25</c:v>
                  </c:pt>
                  <c:pt idx="15">
                    <c:v>4Q25</c:v>
                  </c:pt>
                  <c:pt idx="16">
                    <c:v>1Q26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23.3</c:v>
                </c:pt>
                <c:pt idx="1">
                  <c:v>23.8</c:v>
                </c:pt>
                <c:pt idx="2">
                  <c:v>21.7</c:v>
                </c:pt>
                <c:pt idx="3">
                  <c:v>21.5</c:v>
                </c:pt>
                <c:pt idx="4">
                  <c:v>21.5</c:v>
                </c:pt>
                <c:pt idx="5">
                  <c:v>25.3</c:v>
                </c:pt>
                <c:pt idx="6">
                  <c:v>23.6</c:v>
                </c:pt>
                <c:pt idx="7">
                  <c:v>20.2</c:v>
                </c:pt>
                <c:pt idx="8">
                  <c:v>20.9</c:v>
                </c:pt>
                <c:pt idx="9">
                  <c:v>23.1</c:v>
                </c:pt>
                <c:pt idx="10">
                  <c:v>21.2</c:v>
                </c:pt>
                <c:pt idx="11">
                  <c:v>22.7</c:v>
                </c:pt>
                <c:pt idx="12">
                  <c:v>21.2</c:v>
                </c:pt>
                <c:pt idx="13">
                  <c:v>23.8</c:v>
                </c:pt>
                <c:pt idx="14">
                  <c:v>22.4</c:v>
                </c:pt>
                <c:pt idx="15">
                  <c:v>27.1</c:v>
                </c:pt>
                <c:pt idx="16">
                  <c:v>24.7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F2430"/>
                </a:solidFill>
                <a:latin typeface="Arial"/>
              </a:rPr>
              <a:t>Channel mix, % of revenue (Q1-26)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Q1-26 channel mix, % of 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0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80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0A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Delivery</c:v>
                  </c:pt>
                  <c:pt idx="1">
                    <c:v>Kiosks</c:v>
                  </c:pt>
                  <c:pt idx="2">
                    <c:v>Takeaway</c:v>
                  </c:pt>
                  <c:pt idx="3">
                    <c:v>Dine-in</c:v>
                  </c:pt>
                  <c:pt idx="4">
                    <c:v>Drive-thru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</c:v>
                </c:pt>
                <c:pt idx="1">
                  <c:v>17</c:v>
                </c:pt>
                <c:pt idx="2">
                  <c:v>13</c:v>
                </c:pt>
                <c:pt idx="3">
                  <c:v>10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US$m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2378.4</c:v>
                </c:pt>
                <c:pt idx="1">
                  <c:v>2413.1</c:v>
                </c:pt>
                <c:pt idx="2">
                  <c:v>2196.8</c:v>
                </c:pt>
                <c:pt idx="3">
                  <c:v>2508.8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EBITDA, US$m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535.9</c:v>
                </c:pt>
                <c:pt idx="1">
                  <c:v>550.8</c:v>
                </c:pt>
                <c:pt idx="2">
                  <c:v>484.3</c:v>
                </c:pt>
                <c:pt idx="3">
                  <c:v>595.6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F2430"/>
                </a:solidFill>
                <a:latin typeface="Arial"/>
              </a:rPr>
              <a:t>Group like-for-like sales, % YoY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LfL sales growth, % YoY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1Q23</c:v>
                  </c:pt>
                  <c:pt idx="1">
                    <c:v>2Q23</c:v>
                  </c:pt>
                  <c:pt idx="2">
                    <c:v>3Q23</c:v>
                  </c:pt>
                  <c:pt idx="3">
                    <c:v>4Q23</c:v>
                  </c:pt>
                  <c:pt idx="4">
                    <c:v>1Q24</c:v>
                  </c:pt>
                  <c:pt idx="5">
                    <c:v>2Q24</c:v>
                  </c:pt>
                  <c:pt idx="6">
                    <c:v>3Q24</c:v>
                  </c:pt>
                  <c:pt idx="7">
                    <c:v>4Q24</c:v>
                  </c:pt>
                  <c:pt idx="8">
                    <c:v>1Q25</c:v>
                  </c:pt>
                  <c:pt idx="9">
                    <c:v>2Q25</c:v>
                  </c:pt>
                  <c:pt idx="10">
                    <c:v>3Q25</c:v>
                  </c:pt>
                  <c:pt idx="11">
                    <c:v>4Q25</c:v>
                  </c:pt>
                  <c:pt idx="12">
                    <c:v>1Q26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1.7</c:v>
                </c:pt>
                <c:pt idx="1">
                  <c:v>12.4</c:v>
                </c:pt>
                <c:pt idx="2">
                  <c:v>3.8</c:v>
                </c:pt>
                <c:pt idx="3">
                  <c:v>-21.8</c:v>
                </c:pt>
                <c:pt idx="4">
                  <c:v>-22.2</c:v>
                </c:pt>
                <c:pt idx="5">
                  <c:v>-18.6</c:v>
                </c:pt>
                <c:pt idx="6">
                  <c:v>-18</c:v>
                </c:pt>
                <c:pt idx="7">
                  <c:v>13</c:v>
                </c:pt>
                <c:pt idx="8">
                  <c:v>13.9</c:v>
                </c:pt>
                <c:pt idx="9">
                  <c:v>11.1</c:v>
                </c:pt>
                <c:pt idx="10">
                  <c:v>6.7</c:v>
                </c:pt>
                <c:pt idx="11">
                  <c:v>7.8</c:v>
                </c:pt>
                <c:pt idx="12">
                  <c:v>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POINT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Machine: Why Americana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Fifty-year franchise moats, sub-3-year paybacks on the anchor brand, record margins straight out of a two-year stress test - and a net-cash balance sheet paying out 92% of profits while still funding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1E4258"/>
          </a:solidFill>
          <a:ln w="9525">
            <a:solidFill>
              <a:srgbClr val="2A58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97180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322783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3547872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2,741 stores, 12 countries, brands held for half a century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28346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1E4258"/>
          </a:solidFill>
          <a:ln w="9525">
            <a:solidFill>
              <a:srgbClr val="2A5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297180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322783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16352" y="3547872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pays back in 2.3 years; suppliers fund the working capital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1E4258"/>
          </a:solidFill>
          <a:ln w="9525">
            <a:solidFill>
              <a:srgbClr val="2A58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97180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322783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73752" y="3547872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boycott and war absorbed; Q1-26 set records on every 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12280" y="28346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1E4258"/>
          </a:solidFill>
          <a:ln w="9525">
            <a:solidFill>
              <a:srgbClr val="2A5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297180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31152" y="322783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31152" y="3547872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cash, 92% payout, and a guided double-digit algorithm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Americana Restaurants  |  Initiation of Coverage  |  Section 2 of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|  ACT I - THE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2,741 stores and still compounding: +712 net in four years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base up 35% since listing (4Q22: 2,183) - five brand verticals across 12 countries, with M&amp;A now adding a home-grown brand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71600"/>
            <a:ext cx="987552" cy="822960"/>
          </a:xfrm>
          <a:prstGeom prst="roundRect">
            <a:avLst>
              <a:gd name="adj" fmla="val 6667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44475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05272" y="17830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(since 1973)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656832" y="1371600"/>
            <a:ext cx="987552" cy="822960"/>
          </a:xfrm>
          <a:prstGeom prst="roundRect">
            <a:avLst>
              <a:gd name="adj" fmla="val 6667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56832" y="144475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84264" y="17830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Hardee's (1980)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735824" y="1371600"/>
            <a:ext cx="987552" cy="822960"/>
          </a:xfrm>
          <a:prstGeom prst="roundRect">
            <a:avLst>
              <a:gd name="adj" fmla="val 6667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35824" y="144475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63256" y="17830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Hut (1979)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577840" y="2286000"/>
            <a:ext cx="987552" cy="822960"/>
          </a:xfrm>
          <a:prstGeom prst="roundRect">
            <a:avLst>
              <a:gd name="adj" fmla="val 6667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77840" y="235915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05272" y="26974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Krispy Kreme (2006)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656832" y="2286000"/>
            <a:ext cx="987552" cy="822960"/>
          </a:xfrm>
          <a:prstGeom prst="roundRect">
            <a:avLst>
              <a:gd name="adj" fmla="val 6667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56832" y="235915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84264" y="26974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niche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7735824" y="2286000"/>
            <a:ext cx="987552" cy="822960"/>
          </a:xfrm>
          <a:prstGeom prst="roundRect">
            <a:avLst>
              <a:gd name="adj" fmla="val 6667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35824" y="235915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63256" y="26974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577840" y="329184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696712" y="3346704"/>
            <a:ext cx="291693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now buys brands too: </a:t>
            </a:r>
            <a:pPr indent="0" marL="0">
              <a:buNone/>
            </a:pPr>
            <a:r>
              <a:rPr lang="en-US" sz="84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Jan-2025 Pizza Hut Oman acquisition (+46 stores); Feb-2026 Malak Al Tawouk - $20.8m for 75-year MENA/CIS franchise rights to a home-grown Lebanese chicken brand. The machine acquires, converts and scales.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quarterly earnings releases and investor presentations, 1Q22-1Q26 (own compiled workbook, audited against FY23-FY25 annual reports). Store counts at quarter-end.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1B  |  ACT I - THE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footprint, drawn to scale: 2,741 stores across 12 countries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area = store count, 1Q26 - the core four carry 78%, and every growth option already has a beachhead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6035040" cy="3383280"/>
          </a:xfrm>
          <a:prstGeom prst="roundRect">
            <a:avLst>
              <a:gd name="adj" fmla="val 2162"/>
            </a:avLst>
          </a:prstGeom>
          <a:solidFill>
            <a:srgbClr val="F4F8F9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7823" y="1641703"/>
            <a:ext cx="465633" cy="465633"/>
          </a:xfrm>
          <a:prstGeom prst="ellipse">
            <a:avLst/>
          </a:prstGeom>
          <a:solidFill>
            <a:srgbClr val="02C39A">
              <a:alpha val="82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367383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
</a:t>
            </a:r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07862" y="2736662"/>
            <a:ext cx="287395" cy="287395"/>
          </a:xfrm>
          <a:prstGeom prst="ellipse">
            <a:avLst/>
          </a:prstGeom>
          <a:solidFill>
            <a:srgbClr val="02C39A">
              <a:alpha val="82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234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
</a:t>
            </a:r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6348" y="2839228"/>
            <a:ext cx="813783" cy="813783"/>
          </a:xfrm>
          <a:prstGeom prst="ellipse">
            <a:avLst/>
          </a:prstGeom>
          <a:solidFill>
            <a:srgbClr val="028090">
              <a:alpha val="8200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5649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
</a:t>
            </a:r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13834" y="1877642"/>
            <a:ext cx="158347" cy="158347"/>
          </a:xfrm>
          <a:prstGeom prst="ellipse">
            <a:avLst/>
          </a:prstGeom>
          <a:solidFill>
            <a:srgbClr val="50808E">
              <a:alpha val="82000"/>
            </a:srgbClr>
          </a:solidFill>
          <a:ln w="15875">
            <a:solidFill>
              <a:srgbClr val="5080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60332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Lebanon
</a:t>
            </a:r>
            <a:pPr algn="ctr" indent="0" marL="0">
              <a:buNone/>
            </a:pPr>
            <a:r>
              <a:rPr lang="en-US" sz="7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69934" y="2343470"/>
            <a:ext cx="287395" cy="287395"/>
          </a:xfrm>
          <a:prstGeom prst="ellipse">
            <a:avLst/>
          </a:prstGeom>
          <a:solidFill>
            <a:srgbClr val="50808E">
              <a:alpha val="82000"/>
            </a:srgbClr>
          </a:solidFill>
          <a:ln w="15875">
            <a:solidFill>
              <a:srgbClr val="5080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64001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
</a:t>
            </a:r>
            <a:pPr algn="ctr" indent="0" marL="0">
              <a:buNone/>
            </a:pPr>
            <a:r>
              <a:rPr lang="en-US" sz="7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447554" y="2088402"/>
            <a:ext cx="248892" cy="248892"/>
          </a:xfrm>
          <a:prstGeom prst="ellipse">
            <a:avLst/>
          </a:prstGeom>
          <a:solidFill>
            <a:srgbClr val="02C39A">
              <a:alpha val="82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81408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
</a:t>
            </a:r>
            <a:pPr algn="ctr" indent="0" marL="0">
              <a:buNone/>
            </a:pPr>
            <a:r>
              <a:rPr lang="en-US" sz="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641105" y="2446545"/>
            <a:ext cx="629886" cy="629886"/>
          </a:xfrm>
          <a:prstGeom prst="ellipse">
            <a:avLst/>
          </a:prstGeom>
          <a:solidFill>
            <a:srgbClr val="028090">
              <a:alpha val="8200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2172225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
</a:t>
            </a:r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13678" y="3173598"/>
            <a:ext cx="1059444" cy="1059444"/>
          </a:xfrm>
          <a:prstGeom prst="ellipse">
            <a:avLst/>
          </a:prstGeom>
          <a:solidFill>
            <a:srgbClr val="028090">
              <a:alpha val="8200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24218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
</a:t>
            </a:r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85175" y="2963183"/>
            <a:ext cx="328131" cy="328131"/>
          </a:xfrm>
          <a:prstGeom prst="ellipse">
            <a:avLst/>
          </a:prstGeom>
          <a:solidFill>
            <a:srgbClr val="50808E">
              <a:alpha val="82000"/>
            </a:srgbClr>
          </a:solidFill>
          <a:ln w="15875">
            <a:solidFill>
              <a:srgbClr val="5080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88863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
</a:t>
            </a:r>
            <a:pPr algn="ctr" indent="0" marL="0">
              <a:buNone/>
            </a:pPr>
            <a:r>
              <a:rPr lang="en-US" sz="7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331641" y="3411401"/>
            <a:ext cx="400958" cy="400958"/>
          </a:xfrm>
          <a:prstGeom prst="ellipse">
            <a:avLst/>
          </a:prstGeom>
          <a:solidFill>
            <a:srgbClr val="50808E">
              <a:alpha val="82000"/>
            </a:srgbClr>
          </a:solidFill>
          <a:ln w="15875">
            <a:solidFill>
              <a:srgbClr val="5080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821503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
</a:t>
            </a:r>
            <a:pPr algn="ctr" indent="0" marL="0">
              <a:buNone/>
            </a:pPr>
            <a:r>
              <a:rPr lang="en-US" sz="7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12002" y="2523082"/>
            <a:ext cx="988877" cy="988877"/>
          </a:xfrm>
          <a:prstGeom prst="ellipse">
            <a:avLst/>
          </a:prstGeom>
          <a:solidFill>
            <a:srgbClr val="028090">
              <a:alpha val="8200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24876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
</a:t>
            </a:r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2267" y="3850587"/>
            <a:ext cx="382123" cy="382123"/>
          </a:xfrm>
          <a:prstGeom prst="ellipse">
            <a:avLst/>
          </a:prstGeom>
          <a:solidFill>
            <a:srgbClr val="50808E">
              <a:alpha val="82000"/>
            </a:srgbClr>
          </a:solidFill>
          <a:ln w="15875">
            <a:solidFill>
              <a:srgbClr val="5080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4241853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
</a:t>
            </a:r>
            <a:pPr algn="ctr" indent="0" marL="0">
              <a:buNone/>
            </a:pPr>
            <a:r>
              <a:rPr lang="en-US" sz="7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2920" y="437083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four (78%)   </a:t>
            </a:r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frontier   </a:t>
            </a:r>
            <a:pPr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completion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37960" y="1371600"/>
            <a:ext cx="2194560" cy="1078992"/>
          </a:xfrm>
          <a:prstGeom prst="roundRect">
            <a:avLst>
              <a:gd name="adj" fmla="val 5085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56832" y="1426464"/>
            <a:ext cx="19568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rings. </a:t>
            </a:r>
            <a:pPr indent="0" marL="0">
              <a:buNone/>
            </a:pPr>
            <a:r>
              <a:rPr lang="en-US" sz="8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four (2,142 stores) fund the machine; the GCC ring completes coverage; the frontier ring (KZ, Morocco, Iraq) holds the next decade's options.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37960" y="2560320"/>
            <a:ext cx="2194560" cy="1078992"/>
          </a:xfrm>
          <a:prstGeom prst="roundRect">
            <a:avLst>
              <a:gd name="adj" fmla="val 5085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56832" y="2615184"/>
            <a:ext cx="19568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the moat. </a:t>
            </a:r>
            <a:pPr indent="0" marL="0">
              <a:buNone/>
            </a:pPr>
            <a:r>
              <a:rPr lang="en-US" sz="8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holds top-tier position across this footprint - replicating it means winning 12 franchise negotiations and 50 years of site relationships.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37960" y="374904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56832" y="3803904"/>
            <a:ext cx="19568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the edges. </a:t>
            </a:r>
            <a:pPr indent="0" marL="0">
              <a:buNone/>
            </a:pPr>
            <a:r>
              <a:rPr lang="en-US" sz="8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+18 and Morocco +10 stores in the last year; Iraq +5. The frontier compounds quietly while the core carries the P&amp;L.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disclosures, store counts by country at 1Q26 (own compiled workbook; sums to 2,741). Bubble AREA proportional to stores; positions schematic, not cartographic.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1C  |  ACT I - THE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brands, two engines: four anchors and a growth bench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mirror company reporting: Power Brands 2,441 stores (89%); Growth &amp; Niche 297 - including two proprietary brands and the newly acquired MAT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366760" cy="1024128"/>
          </a:xfrm>
          <a:prstGeom prst="roundRect">
            <a:avLst>
              <a:gd name="adj" fmla="val 5357"/>
            </a:avLst>
          </a:prstGeom>
          <a:solidFill>
            <a:srgbClr val="EAF3F5"/>
          </a:solidFill>
          <a:ln w="9525">
            <a:solidFill>
              <a:srgbClr val="D8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BRANDS  -  the P&amp;L engine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0" y="13533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2,441 stores  |  89% of the network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27632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C4123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KFC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1973  |  1,142 stores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624328" y="1627632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DA291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4328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Hardee's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24328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1980  |  455 stores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4681728" y="1627632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EE312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1728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Hut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1979  |  450 stores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739128" y="1627632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006B3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9128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Krispy Kreme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39128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  |  394 stores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8366760" cy="1874520"/>
          </a:xfrm>
          <a:prstGeom prst="roundRect">
            <a:avLst>
              <a:gd name="adj" fmla="val 2927"/>
            </a:avLst>
          </a:prstGeom>
          <a:solidFill>
            <a:srgbClr val="EFF5EA"/>
          </a:solidFill>
          <a:ln w="9525">
            <a:solidFill>
              <a:srgbClr val="D8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9689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NICHE BRANDS  -  the bench (company bucket, incl. proprietary and acquired)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5968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stores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2871216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29077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TGI Fridays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2186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dining, since 1994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249424" y="2871216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6C1F4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49424" y="29077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Costa Coffee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9424" y="32186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3931920" y="2871216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E82C8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931920" y="29077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Baskin Robbins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32186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614416" y="2871216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4A2C2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14416" y="29077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Peet's Coffee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14416" y="32186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coffee, 2022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66928" y="3639312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B01C2E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6928" y="36758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Wimpy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39867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1970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572768" y="3557016"/>
            <a:ext cx="60350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1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72768" y="35524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B0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IP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2249424" y="3639312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C97B2D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249424" y="36758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Chicken Tikka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9424" y="39867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chicken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3255264" y="3557016"/>
            <a:ext cx="60350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7B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5264" y="35524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IP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3931920" y="3639312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931920" y="3675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Malak Al Tawouk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93192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acq. Feb-26  |  75-yr rights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5193792" y="3557016"/>
            <a:ext cx="60350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35524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5943600" y="36118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bench matters: </a:t>
            </a:r>
            <a:pPr indent="0" marL="0">
              <a:buNone/>
            </a:pPr>
            <a:r>
              <a:rPr lang="en-US" sz="86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own-IP brands (Wimpy, Chicken Tikka) keep 100% of economics; MAT is a 75-year franchise - near-ownership tenor, royalty terms undisclosed. All three are home-grown regional brands with zero boycott sensitivity - the bench hedges the engine's biggest risk.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502920" y="4526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legacy brands (3 stores, in run-off): Grand Cafe, Fish Market, Pavilion - pre-refocus concepts receiving no growth capital (9 stores at DRHP, 2022).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DRHP (brand portfolio, tenures); company 1Q26 disclosures (store counts; MAT stores report within Growth &amp; Niche - bucket 268 -&gt; 297 with the 7 MAT additions). Tiles are styled wordmarks - swap in official logo artwork before publication.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ACT I - THE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Half-century franchise relationships nobody can replicate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since 1973, Pizza Hut since 1979, Hardee's since 1980 - and a 100% international franchise agreement retention record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99032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Kuwait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828800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Wimpy - first franchise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2258568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- among the first international chains in MENA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660904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2688336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1979-80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Hut; Hardee's; enters Saudi Arabia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18104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1994-2006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TGIF; Krispy Kreme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3547872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2001-08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Morocco; Kazakhstan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950208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" y="3977640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listing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379976"/>
            <a:ext cx="4023360" cy="374904"/>
          </a:xfrm>
          <a:prstGeom prst="roundRect">
            <a:avLst>
              <a:gd name="adj" fmla="val 1463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" y="4407408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  </a:t>
            </a:r>
            <a:pPr indent="0" marL="0">
              <a:buNone/>
            </a:pPr>
            <a:r>
              <a:rPr lang="en-US" sz="8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Oman; Malak Al Tawouk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1371600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0872" y="1426464"/>
            <a:ext cx="39227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IFA retention.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has never lost an international franchise agreement - through nationalizations-era Kuwait, the Gulf War, two boycott cycles and an ownership change. Restaurant-level agreements run typical 10-year renewable terms.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2441448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90872" y="2496312"/>
            <a:ext cx="39227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that read like ownership.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right of first refusal with Krispy Kreme for new markets; selected by Yum as relaunch partner for new-market scale-ups; TGIF and Peet's Coffee exclusives - the franchisors keep choosing the same partner.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3511296"/>
            <a:ext cx="4160520" cy="1115568"/>
          </a:xfrm>
          <a:prstGeom prst="roundRect">
            <a:avLst>
              <a:gd name="adj" fmla="val 491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90872" y="356616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entrant cannot copy this: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challenger needs brand rights (taken), 50 years of site relationships (irreplicable), and supply chains in 12 countries (decades). The moat is not the burger - it is the accumulated right to sell it everywhere that matters. 83% of revenue is in USD-pegged currencies.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Americana DRHP (2022) - Group history, franchise agreements, IFA retention record; company disclosures. Yum agreements: development + restaurant-level franchise agreements (typically 10-year renewable terms).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ACT II - THE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anchor brand pays back in 2.3 years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payback by brand (company-reported, LTM basis) on ~$350-380k of capex per new restaurant - growth funds itself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371600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73752" y="1426464"/>
            <a:ext cx="37398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~$379k a store (4Q25 LTM).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Small-box, delivery-and-kiosk-led formats keep capex per restaurant under $400k - so the guided 120-130 net openings for 2026 cost roughly ~$50m, against $595.6m of FY25 EBITDA.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54880" y="2441448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73752" y="2496312"/>
            <a:ext cx="37398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fund the growth.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 runs at MINUS ~9% of revenue ($230m at 1Q26) - customers pay instantly, suppliers wait. Every new store is financed partly by its own payables before it opens.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54880" y="3511296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73752" y="3566160"/>
            <a:ext cx="3739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Krispy Kreme is the honest exception.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&gt;5-year payback (company-reported) - the portfolio discloses its weak spots, which is exactly why the disclosure is credible. The capital keeps flowing to KFC and Hardee's, where returns are highest.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investor presentations - average payback period by brand and average capex per new restaurant (reported periodically, LTM basis; 2Q25/4Q25 disclosures); NWC from quarterly balance-sheet data (own compiled workbook).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ACT II - THE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 came out of the crisis higher than they went 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EBITDA margin: 22.5% (FY22) to 23.7% (FY25) - with 4Q25 at 27.1% and Q1-26 at 24.7%, both records for those quarters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716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96712" y="1426464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costs are falling.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inventory improved 1.9pp YoY to 27.3% of revenue in Q1-26 - scale procurement across 2,700+ stores is a hard advantage independents cannot match.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2441448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96712" y="2496312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lease line, honestly.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EBITDA is pre-IFRS-16 rent: full cash leases (principal + interest) run ~9.3% of revenue. We model on lease-adjusted EBITDA throughout - the thesis survives the honest number.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3511296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96712" y="356616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THROUGH the stress.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trough (20.2%, 4Q23 boycott quarter) was 130bps below the FY22 average - then 4Q25 printed 27.1% and Q1-26 24.7% (+350bps YoY). Operating leverage is intact and compounding.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quarterly earnings releases 1Q22-1Q26 (own compiled workbook; FY margins computed: FY22 22.5%, FY23 22.8%, FY24 22.0%, FY25 23.7%). Lease analysis: FY25 AR (principal $192.4m + interest $40.9m cash leases).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|  ACT II - THE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store has left the dining room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Q1-26 channel mix: 51% delivery + 17% kiosk + 13% takeaway - only 10% of revenue is a customer at a table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371600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73752" y="1426464"/>
            <a:ext cx="37398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46% to 51% in a year.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restated comparable basis, delivery rose 5pp YoY - the fastest-growing channel is also the one that scales without dining-room capex.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54880" y="2441448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73752" y="2496312"/>
            <a:ext cx="37398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Kiosks tripled to 17%.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Self-order kiosks carry labor-light, higher-ticket orders - the digital storefront inside the physical store. (Methodology note: channel definitions were revised in Q1-26; prior-period figures are restated by the company.)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54880" y="3511296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73752" y="3566160"/>
            <a:ext cx="3739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returns: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off-premise formats shrink the box - which is how capex per store stays under $400k (slide 3) while AUVs grow. Channel mix is the mechanism connecting the digital consumer of Act I to the payback math of this act.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Q1-2026 investor presentation, channel mix (YTD cumulative; methodology revised Q1-26 - comparable Q1-25 delivery = 46%). Own compiled workbook.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|  ACT III - THE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years, one dip, new highs: the P&amp;L round trip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set records on revenue ($2.51bn) and EBITDA ($596m) - one year after the deepest boycott quarter cut revenue 15%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716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96712" y="1426464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FY25: +14.2% revenue.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came from all three levers at once: net openings (+159 stores), LfL +9.9% average across the year, and margin +170bps to 23.7%.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2441448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96712" y="2496312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profit: $219m and accelerating.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FY24's $159m trough reflected the boycott plus Pillar-Two tax step-up (~$14m). Q1-26 net profit nearly doubled YoY (+93.5% to $63.2m).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3511296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96712" y="356616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growth never stopped.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FY24 - the worst revenue year - the Group opened 235 gross stores. Capacity was built INTO the downturn, which is why the FY25 recovery printed records rather than merely recovering.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earnings releases (own compiled workbook; FY figures = sum of quarters; net profit = attributable to shareholders). Pillar Two: UAE/KW/BH/QA minimum tax from 2025, ~$14m FY25 impact.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|  ACT III - THE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stress test: five negative quarters, then thirteen months of records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sales by quarter - the boycott cut LfL by ~22% for a year; the recovery has now out-lasted the crisis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716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96712" y="1426464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4Q23-3Q24: the boycott year.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consecutive quarters of ~-20% LfL - the worst demand shock a QSR franchise can face short of a pandemic. Margins held above 20% in every single quarter.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2441448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96712" y="2496312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4Q24 onward: the flip.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 turned +13% the moment comps normalized and has stayed positive for five quarters - INCLUDING the June-2025 regional war quarter (3Q25 LfL +6.7%).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3511296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96712" y="356616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Q1-26, through it all: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+13.3% to $649.7m, EBITDA +31.9%, margin 24.7% (+350bps), net profit +93.5%. The bear case's central risk - regional shocks - has now been priced, lived, and out-earned. Twice.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quarterly earnings releases 1Q23-1Q26 (own compiled workbook). 4Q23-3Q24 = Gaza-war boycott impact; 2Q-3Q25 include the Jun-2025 Israel-Iran war period.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|  ACT IV - THE PAYOUT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cash, no debt, and a 92% payout - while still opening 200+ stores a year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FY25: $209m adjusted free cash flow, $417m net cash, $201.6m dividend declared - the growth is self-funding with room to spare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$417m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cash, FY25 (no borrowings; ex-leases)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18688" y="1417320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$209m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55848" y="1984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adjusted free cash flow (~58% conversion 4Q25)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71616" y="1417320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71616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$201.6m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08776" y="1984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dividend - 92% of net profit ($0.024/share)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 as % of revenue: suppliers fund the float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18688" y="2743200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18688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~$26m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55848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Q1-26 organic capex (6.5% of rev incl. M&amp;A)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71616" y="2743200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120-130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08776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net new stores for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8366760" cy="548640"/>
          </a:xfrm>
          <a:prstGeom prst="roundRect">
            <a:avLst>
              <a:gd name="adj" fmla="val 10000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" y="4261104"/>
            <a:ext cx="8129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capital-allocation message: </a:t>
            </a:r>
            <a:pPr indent="0" marL="0">
              <a:buNone/>
            </a:pPr>
            <a:r>
              <a:rPr lang="en-US" sz="8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franchise QSR at this stage of penetration normally consumes cash; Americana generates it, distributes 92% of it, and still guides double-digit EBITDA growth - because paybacks under 3 years mean the growth capex is small relative to the cash the estate throws off.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FY25 annual report (net cash: cash $154.3m + deposits $263.0m, no borrowings); company earnings releases (FCF, dividend, guidance); own compiled workbook. Dividend = declared on FY25 profits (Feb-2026).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|  ACT IV - THE PAYOUT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overhang is really an option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majority holder is the bear's liquidity complaint - and the bull's index catalyst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472184"/>
            <a:ext cx="38770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structure.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Adeptio (the PIF / Alabbar consortium vehicle) holds ~66% following the 2022 dual listing (ADX + Tadawul); the free float is roughly a third of the register. Verify exact register percentages against the latest disclosure before publication.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3072384"/>
            <a:ext cx="38770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complaint.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float caps index weightings and keeps some institutions out - a genuine, known, and therefore already-priced constraint on the multiple.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6592" y="1472184"/>
            <a:ext cx="38770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option.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placement from the majority stake widens the float, lifts index weights (EM index inclusion mechanics reward free-float market cap), and forces the very institutions currently excluded to build positions - a supply event that historically RERATES quality consumer names rather than sinking them.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30175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3072384"/>
            <a:ext cx="38770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meanwhile.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sovereign-linked anchor holder with a 92% payout policy is collecting the same dividend stream minorities are - the incentive is distribution and value, not extraction. Related-party dealings are limited and disclosed.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disclosures / DRHP (ownership structure at listing); payout per FY25 dividend declaration. Exact current register percentages: to be refreshed from latest ADX/Tadawul disclosure before publication.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|  ACT IV - THE PAYOUT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listed peer offers this combination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 peers give you the model without the growth; franchisors give you growth without the yield; Americana holds all four corners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286000" cy="384048"/>
          </a:xfrm>
          <a:prstGeom prst="rect">
            <a:avLst/>
          </a:prstGeom>
          <a:solidFill>
            <a:srgbClr val="14324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4475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(latest FY)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417320"/>
            <a:ext cx="1920240" cy="384048"/>
          </a:xfrm>
          <a:prstGeom prst="rect">
            <a:avLst/>
          </a:prstGeom>
          <a:solidFill>
            <a:srgbClr val="14324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44475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2103120" cy="384048"/>
          </a:xfrm>
          <a:prstGeom prst="rect">
            <a:avLst/>
          </a:prstGeom>
          <a:solidFill>
            <a:srgbClr val="14324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44475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franchisee peers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1417320"/>
            <a:ext cx="2057400" cy="384048"/>
          </a:xfrm>
          <a:prstGeom prst="rect">
            <a:avLst/>
          </a:prstGeom>
          <a:solidFill>
            <a:srgbClr val="14324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444752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Franchisors (YUM etc.)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01368"/>
            <a:ext cx="228600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288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651760" y="1801368"/>
            <a:ext cx="192024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8288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572000" y="1801368"/>
            <a:ext cx="210312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82880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675120" y="1801368"/>
            <a:ext cx="205740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82880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(royalty model)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65760" y="2258568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2860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(FY25)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651760" y="225856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22860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+14.2%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72000" y="2258568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28600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675120" y="2258568"/>
            <a:ext cx="2057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28600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system-sales driven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365760" y="2715768"/>
            <a:ext cx="228600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7432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New-store payback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651760" y="2715768"/>
            <a:ext cx="192024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27432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2.3-3.1 yrs (KFC-Group)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4572000" y="2715768"/>
            <a:ext cx="210312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74320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675120" y="2715768"/>
            <a:ext cx="205740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274320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(asset-light)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365760" y="3172968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2004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/ (debt)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2651760" y="317296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24912" y="32004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$417m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572000" y="3172968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320040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levered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675120" y="3172968"/>
            <a:ext cx="2057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320040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365760" y="3630168"/>
            <a:ext cx="228600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6576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ratio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2651760" y="3630168"/>
            <a:ext cx="192024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4912" y="36576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4572000" y="3630168"/>
            <a:ext cx="210312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365760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6675120" y="3630168"/>
            <a:ext cx="2057400" cy="457200"/>
          </a:xfrm>
          <a:prstGeom prst="rect">
            <a:avLst/>
          </a:prstGeom>
          <a:solidFill>
            <a:srgbClr val="F7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48272" y="365760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buyback-led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365760" y="4087368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1148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with #1 position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2651760" y="408736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24912" y="41148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 covered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4572000" y="4087368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411480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1-2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6675120" y="4087368"/>
            <a:ext cx="2057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411480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365760" y="4343400"/>
            <a:ext cx="8366760" cy="411480"/>
          </a:xfrm>
          <a:prstGeom prst="roundRect">
            <a:avLst>
              <a:gd name="adj" fmla="val 13333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84632" y="4398264"/>
            <a:ext cx="8129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note: </a:t>
            </a:r>
            <a:pPr indent="0" marL="0">
              <a:buNone/>
            </a:pPr>
            <a:r>
              <a:rPr lang="en-US" sz="8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columns (Alsea, AmRest, Alamar, Herfy, Jollibee, Yum China) to be compiled from latest filings before publication - Americana column is final and sourced.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Americana column - company disclosures FY25/1Q26 (own compiled workbook); market positions - Mordor country reports. Peer data: compile from company filings (flagged - not yet populated).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|  ACT IV - THE PAYOUT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 ahead: guided, funded, and cheap to run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guides 120-130 net stores + mid-single-digit LfL + double-digit EBITDA growth for 2026 - on a balance sheet that needs none of the profits to do 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unit growth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120-130 guided net openings on 2,741 stores - costing ~$50m at ~$380k/store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MSD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mid-single-digit; five straight positive quarters; pricing + traffic both contributing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margin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margins in-line or slightly better; falling food costs and channel mix both push the same way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812280" y="146304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10%+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&amp; net income growth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0" y="24231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double-digit - before any Egypt normalization, index event, or M&amp;A upside from Acts I-IV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366760" cy="685800"/>
          </a:xfrm>
          <a:prstGeom prst="roundRect">
            <a:avLst>
              <a:gd name="adj" fmla="val 8000"/>
            </a:avLst>
          </a:prstGeom>
          <a:solidFill>
            <a:srgbClr val="EFF5E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" y="4032504"/>
            <a:ext cx="8129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of Section 2: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proved the tide is rising; this section proves Americana's machine converts the tide into cash at sub-3-year paybacks, distributes 92% of it, and is guided to compound double-digit anyway. What remains is the price - which is Section 3.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2026 guidance (Q1-26 earnings materials); own compiled workbook. Unit growth % = midpoint of guided net openings / 1Q26 store base.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Americana Initiation - Section 2: The Machine</dc:title>
  <dc:subject>PptxGenJS Presentation</dc:subject>
  <dc:creator>Dhruv Luthra</dc:creator>
  <cp:lastModifiedBy>Dhruv Luthra</cp:lastModifiedBy>
  <cp:revision>1</cp:revision>
  <dcterms:created xsi:type="dcterms:W3CDTF">2026-07-27T06:40:47Z</dcterms:created>
  <dcterms:modified xsi:type="dcterms:W3CDTF">2026-07-27T06:40:47Z</dcterms:modified>
</cp:coreProperties>
</file>