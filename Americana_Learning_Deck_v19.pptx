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83" r:id="rId34"/>
    <p:sldId id="260" r:id="rId6"/>
    <p:sldId id="261" r:id="rId7"/>
    <p:sldId id="262" r:id="rId8"/>
    <p:sldId id="263" r:id="rId9"/>
    <p:sldId id="264" r:id="rId10"/>
    <p:sldId id="282" r:id="rId33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10.xml"/><Relationship Id="rId34" Type="http://schemas.openxmlformats.org/officeDocument/2006/relationships/slide" Target="slides/slide2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Arial"/>
              </a:rPr>
              <a:t>Revenue ($m, 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1Q23</c:v>
                  </c:pt>
                  <c:pt idx="1">
                    <c:v>2Q23</c:v>
                  </c:pt>
                  <c:pt idx="2">
                    <c:v>3Q23</c:v>
                  </c:pt>
                  <c:pt idx="3">
                    <c:v>4Q23</c:v>
                  </c:pt>
                  <c:pt idx="4">
                    <c:v>1Q24</c:v>
                  </c:pt>
                  <c:pt idx="5">
                    <c:v>2Q24</c:v>
                  </c:pt>
                  <c:pt idx="6">
                    <c:v>3Q24</c:v>
                  </c:pt>
                  <c:pt idx="7">
                    <c:v>4Q24</c:v>
                  </c:pt>
                  <c:pt idx="8">
                    <c:v>1Q25</c:v>
                  </c:pt>
                  <c:pt idx="9">
                    <c:v>2Q25</c:v>
                  </c:pt>
                  <c:pt idx="10">
                    <c:v>3Q25</c:v>
                  </c:pt>
                  <c:pt idx="11">
                    <c:v>4Q25</c:v>
                  </c:pt>
                  <c:pt idx="12">
                    <c:v>1Q26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569</c:v>
                </c:pt>
                <c:pt idx="1">
                  <c:v>595</c:v>
                </c:pt>
                <c:pt idx="2">
                  <c:v>624</c:v>
                </c:pt>
                <c:pt idx="3">
                  <c:v>620</c:v>
                </c:pt>
                <c:pt idx="4">
                  <c:v>477</c:v>
                </c:pt>
                <c:pt idx="5">
                  <c:v>525</c:v>
                </c:pt>
                <c:pt idx="6">
                  <c:v>555</c:v>
                </c:pt>
                <c:pt idx="7">
                  <c:v>640</c:v>
                </c:pt>
                <c:pt idx="8">
                  <c:v>574</c:v>
                </c:pt>
                <c:pt idx="9">
                  <c:v>610</c:v>
                </c:pt>
                <c:pt idx="10">
                  <c:v>638</c:v>
                </c:pt>
                <c:pt idx="11">
                  <c:v>687</c:v>
                </c:pt>
                <c:pt idx="12">
                  <c:v>650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A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Channels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10600"/>
              </a:solidFill>
              <a:effectLst/>
            </c:spPr>
          </c:dPt>
          <c:dPt>
            <c:idx val="1"/>
            <c:bubble3D val="0"/>
            <c:spPr>
              <a:solidFill>
                <a:srgbClr val="1F3864"/>
              </a:solidFill>
              <a:effectLst/>
            </c:spPr>
          </c:dPt>
          <c:dPt>
            <c:idx val="2"/>
            <c:bubble3D val="0"/>
            <c:spPr>
              <a:solidFill>
                <a:srgbClr val="2E5A97"/>
              </a:solidFill>
              <a:effectLst/>
            </c:spPr>
          </c:dPt>
          <c:dPt>
            <c:idx val="3"/>
            <c:bubble3D val="0"/>
            <c:spPr>
              <a:solidFill>
                <a:srgbClr val="FF6600"/>
              </a:solidFill>
              <a:effectLst/>
            </c:spPr>
          </c:dPt>
          <c:dPt>
            <c:idx val="4"/>
            <c:bubble3D val="0"/>
            <c:spPr>
              <a:solidFill>
                <a:srgbClr val="006633"/>
              </a:solidFill>
              <a:effectLst/>
            </c:spPr>
          </c:dPt>
          <c:dPt>
            <c:idx val="5"/>
            <c:bubble3D val="0"/>
            <c:spPr>
              <a:solidFill>
                <a:srgbClr val="6B728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Home delivery 48%</c:v>
                </c:pt>
                <c:pt idx="1">
                  <c:v>Dine-in 17%</c:v>
                </c:pt>
                <c:pt idx="2">
                  <c:v>Takeaway 16%</c:v>
                </c:pt>
                <c:pt idx="3">
                  <c:v>Kiosks 15%</c:v>
                </c:pt>
                <c:pt idx="4">
                  <c:v>Drive-thru 8%</c:v>
                </c:pt>
                <c:pt idx="5">
                  <c:v>Other 1%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48</c:v>
                </c:pt>
                <c:pt idx="1">
                  <c:v>17</c:v>
                </c:pt>
                <c:pt idx="2">
                  <c:v>16</c:v>
                </c:pt>
                <c:pt idx="3">
                  <c:v>15</c:v>
                </c:pt>
                <c:pt idx="4">
                  <c:v>8</c:v>
                </c:pt>
                <c:pt idx="5">
                  <c:v>1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A1A1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Arial"/>
              </a:rPr>
              <a:t>AMR / 6015 in USD equivalent (FX-pegged)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AMR USD price</c:v>
                </c:pt>
              </c:strCache>
            </c:strRef>
          </c:tx>
          <c:spPr>
            <a:solidFill>
              <a:srgbClr val="E10600"/>
            </a:solidFill>
            <a:ln w="38100" cap="flat">
              <a:solidFill>
                <a:srgbClr val="E106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10600"/>
              </a:solidFill>
              <a:ln w="9525" cap="flat">
                <a:solidFill>
                  <a:srgbClr val="E106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Dec'22</c:v>
                  </c:pt>
                  <c:pt idx="1">
                    <c:v>Q1'23</c:v>
                  </c:pt>
                  <c:pt idx="2">
                    <c:v>Q2'23</c:v>
                  </c:pt>
                  <c:pt idx="3">
                    <c:v>Q3'23</c:v>
                  </c:pt>
                  <c:pt idx="4">
                    <c:v>Q4'23</c:v>
                  </c:pt>
                  <c:pt idx="5">
                    <c:v>Q1'24</c:v>
                  </c:pt>
                  <c:pt idx="6">
                    <c:v>Q2'24</c:v>
                  </c:pt>
                  <c:pt idx="7">
                    <c:v>Q3'24</c:v>
                  </c:pt>
                  <c:pt idx="8">
                    <c:v>Q4'24</c:v>
                  </c:pt>
                  <c:pt idx="9">
                    <c:v>Q1'25</c:v>
                  </c:pt>
                  <c:pt idx="10">
                    <c:v>Q2'25</c:v>
                  </c:pt>
                  <c:pt idx="11">
                    <c:v>Q3'25</c:v>
                  </c:pt>
                  <c:pt idx="12">
                    <c:v>Q4'25</c:v>
                  </c:pt>
                  <c:pt idx="13">
                    <c:v>Q1'26</c:v>
                  </c:pt>
                  <c:pt idx="14">
                    <c:v>May'26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0.82</c:v>
                </c:pt>
                <c:pt idx="1">
                  <c:v>1</c:v>
                </c:pt>
                <c:pt idx="2">
                  <c:v>1.07</c:v>
                </c:pt>
                <c:pt idx="3">
                  <c:v>1.18</c:v>
                </c:pt>
                <c:pt idx="4">
                  <c:v>0.81</c:v>
                </c:pt>
                <c:pt idx="5">
                  <c:v>0.89</c:v>
                </c:pt>
                <c:pt idx="6">
                  <c:v>0.85</c:v>
                </c:pt>
                <c:pt idx="7">
                  <c:v>0.73</c:v>
                </c:pt>
                <c:pt idx="8">
                  <c:v>0.61</c:v>
                </c:pt>
                <c:pt idx="9">
                  <c:v>0.56</c:v>
                </c:pt>
                <c:pt idx="10">
                  <c:v>0.59</c:v>
                </c:pt>
                <c:pt idx="11">
                  <c:v>0.54</c:v>
                </c:pt>
                <c:pt idx="12">
                  <c:v>0.45</c:v>
                </c:pt>
                <c:pt idx="13">
                  <c:v>0.51</c:v>
                </c:pt>
                <c:pt idx="14">
                  <c:v>0.5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A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188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E1F2"/>
                </a:solidFill>
              </a:rPr>
              <a:t>ANALYST LEARNING PACK · MAY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6916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Americana Restaurants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651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D9E1F2"/>
                </a:solidFill>
              </a:rPr>
              <a:t>International PLC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E1F2"/>
                </a:solidFill>
              </a:rPr>
              <a:t>ADX:AMR  ·  Tadawul:6015  ·  ADGM-incorporated PLC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Onboarding deep-dive — Company, Industry, Peers, Valuation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3284A"/>
          </a:solidFill>
          <a:ln w="12700">
            <a:solidFill>
              <a:srgbClr val="1328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355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1F2"/>
                </a:solidFill>
              </a:rPr>
              <a:t>Prepared from FY25 Annual Report · UAE Prospectus (Nov 2022) · Mordor Intelligence · USDA FAS · Alpen Capital · Bloomberg / Perplexity transcripts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The 60-second snapshot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FY25 results (year ended Dec 31, 2025); 1Q26 reported May 2026.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2788920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562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Revenue FY25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$2,508.8m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+14.2% YoY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69164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691640"/>
            <a:ext cx="2788920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8562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EBITDA margin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20440" y="21945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23.7%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520440" y="26974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+170 bps YoY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69164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691640"/>
            <a:ext cx="2788920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8562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Net income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21945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$219.1m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00800" y="26974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+38% YoY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98280" y="169164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98280" y="1691640"/>
            <a:ext cx="2788920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81160" y="18562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LFL sales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81160" y="21945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+9.7%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281160" y="26974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All 4 power brands +ve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29184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91840"/>
            <a:ext cx="278892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4564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Restaurants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37947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2,749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40080" y="42976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</a:rPr>
              <a:t>12 countries; +159 net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37560" y="329184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37560" y="3291840"/>
            <a:ext cx="2788920" cy="731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0440" y="34564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Free cash flow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520440" y="37947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$209m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3520440" y="42976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FCF conversion 58%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17920" y="329184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7920" y="3291840"/>
            <a:ext cx="278892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34564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Net debt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0" y="37947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Zero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6400800" y="42976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</a:rPr>
              <a:t>$300m liquidity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098280" y="3291840"/>
            <a:ext cx="2788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098280" y="3291840"/>
            <a:ext cx="2788920" cy="7315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81160" y="345643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Market cap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281160" y="37947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~$14bn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9281160" y="42976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</a:rPr>
              <a:t>AMR + 6015 fungible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5029200"/>
            <a:ext cx="11247120" cy="12801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" y="51663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E1F2"/>
                </a:solidFill>
              </a:rPr>
              <a:t>WHAT TO REMEMBER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31520" y="544068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Largest QSR operator in MENA + Kazakhstan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11 brands (94% of revenue from 4 power brands: KFC, Pizza Hut, Hardee's, Krispy Kreme). Zero debt, 92% dividend payout in FY25.</a:t>
            </a: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D9E1F2"/>
                </a:solidFill>
              </a:rPr>
              <a:t>Owned 66% by Adeptio (Mohamed Alabbar + Saudi PIF, 50/50); free float 34%. Dual-listed Dec 2022.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Sources: Americana FY25 AR p.31 dashboard · 4Q25 deck · 1Q26 release (May 5, 2026)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What is Americana, really?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THE ELEVATOR PITCH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Americana is the master franchisee for KFC, Pizza Hut, Hardee's, Krispy Kreme and 7 other brands across 12 countries in the Middle East, North Africa and Kazakhstan. Founded 1964 in Kuwait. Take-private by Mohamed Alabbar + Saudi PIF in 2017. IPO'd Dec 2022 — first-ever GCC dual listing.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WHY IT MATTERS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5486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Largest QSR operator in MENA — store base exceeds the next 4 players combined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Yum! Brands' largest international franchisee for KFC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80%+ revenue from USD-pegged currencies (GCC + Jordan) — FX-stable cash flows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Penetration is 3-8x lower per capita than developed markets — long structural runway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280160"/>
            <a:ext cx="53035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280160"/>
            <a:ext cx="530352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325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Company identity card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187452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Founded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138160" y="187452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1964, Kuwait (Mohammed Al-Kharafi)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2194560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2219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Incorporation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38160" y="222199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Abu Dhabi Global Market (ADGM)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2542032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56946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HQ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38160" y="2569464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Sharjah, UAE (Tower A, Al Rayyan)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0" y="2889504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291693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CEO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38160" y="2916936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Amarpal Singh Sandhu (since 2022)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3236976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326440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Chairman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138160" y="326440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Mohamed Ali Rashed Alabbar (Emaar founder)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83680" y="3584448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36118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Shareholders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38160" y="361188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Adeptio 66% · Free float 34%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83680" y="3931920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395935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Adeptio owners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138160" y="395935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Alabbar 50% · Saudi PIF 50%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83680" y="4279392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4306824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Employees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138160" y="4306824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~39,400 (FY25)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583680" y="4626864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465429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Restaurants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138160" y="4654296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2,749 across 12 countries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583680" y="4974336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500176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Brands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138160" y="500176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11 (KFC, PH, Hardee's, KK + 7 more)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583680" y="5321808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0" y="534924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Listings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138160" y="534924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ADX:AMR · Tadawul:6015 (fungible)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583680" y="5669280"/>
            <a:ext cx="5074920" cy="0"/>
          </a:xfrm>
          <a:prstGeom prst="line">
            <a:avLst/>
          </a:prstGeom>
          <a:noFill/>
          <a:ln w="6350">
            <a:solidFill>
              <a:srgbClr val="ECE7D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0" y="569671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IPO date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138160" y="5696712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12 Dec 2022 — sold 30% at AED 2.62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Americana FY25 Annual Report · UAE Prospectus 2022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1640312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Americana Restaurants  —  60-year journey of brands and geographies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16459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1">
                <a:solidFill>
                  <a:srgbClr val="CBD3E0"/>
                </a:solidFill>
                <a:latin typeface="Calibri"/>
              </a:rPr>
              <a:t>Slide 4  / 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66928"/>
            <a:ext cx="116403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5F6B7E"/>
                </a:solidFill>
                <a:latin typeface="Calibri"/>
              </a:rPr>
              <a:t>Brand portfolio additions (above the axis)  ·  country footprint entries (below)  ·  corporate milestones on the axis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068312" y="886968"/>
            <a:ext cx="128016" cy="12801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51192" y="85953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1A1F2C"/>
                </a:solidFill>
                <a:latin typeface="Calibri"/>
              </a:rPr>
              <a:t>Power brand</a:t>
            </a:r>
          </a:p>
        </p:txBody>
      </p:sp>
      <p:sp>
        <p:nvSpPr>
          <p:cNvPr id="8" name="Rectangle 7"/>
          <p:cNvSpPr/>
          <p:nvPr/>
        </p:nvSpPr>
        <p:spPr>
          <a:xfrm>
            <a:off x="8348472" y="886968"/>
            <a:ext cx="128016" cy="128016"/>
          </a:xfrm>
          <a:prstGeom prst="rect">
            <a:avLst/>
          </a:prstGeom>
          <a:solidFill>
            <a:srgbClr val="2E5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31352" y="85953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1A1F2C"/>
                </a:solidFill>
                <a:latin typeface="Calibri"/>
              </a:rPr>
              <a:t>Other brand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28632" y="886968"/>
            <a:ext cx="128016" cy="128016"/>
          </a:xfrm>
          <a:prstGeom prst="rect">
            <a:avLst/>
          </a:prstGeom>
          <a:solidFill>
            <a:srgbClr val="2F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11512" y="85953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1A1F2C"/>
                </a:solidFill>
                <a:latin typeface="Calibri"/>
              </a:rPr>
              <a:t>Country entry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08792" y="886968"/>
            <a:ext cx="128016" cy="128016"/>
          </a:xfrm>
          <a:prstGeom prst="rect">
            <a:avLst/>
          </a:prstGeom>
          <a:solidFill>
            <a:srgbClr val="C9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91672" y="85953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1A1F2C"/>
                </a:solidFill>
                <a:latin typeface="Calibri"/>
              </a:rPr>
              <a:t>Corporate event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9144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F6B7E"/>
                </a:solidFill>
                <a:latin typeface="Calibri"/>
              </a:rPr>
              <a:t>BRANDS ADDED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" y="3456432"/>
            <a:ext cx="11274552" cy="0"/>
          </a:xfrm>
          <a:prstGeom prst="line">
            <a:avLst/>
          </a:prstGeom>
          <a:ln w="25400">
            <a:solidFill>
              <a:srgbClr val="0F2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69679" y="3410712"/>
            <a:ext cx="0" cy="91439"/>
          </a:xfrm>
          <a:prstGeom prst="line">
            <a:avLst/>
          </a:prstGeom>
          <a:ln w="12700">
            <a:solidFill>
              <a:srgbClr val="0F2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95359" y="351129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 i="0">
                <a:solidFill>
                  <a:srgbClr val="1A1F2C"/>
                </a:solidFill>
                <a:latin typeface="Calibri"/>
              </a:rPr>
              <a:t>1965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823812" y="3410712"/>
            <a:ext cx="0" cy="91439"/>
          </a:xfrm>
          <a:prstGeom prst="line">
            <a:avLst/>
          </a:prstGeom>
          <a:ln w="12700">
            <a:solidFill>
              <a:srgbClr val="0F2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549492" y="351129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 i="0">
                <a:solidFill>
                  <a:srgbClr val="1A1F2C"/>
                </a:solidFill>
                <a:latin typeface="Calibri"/>
              </a:rPr>
              <a:t>1970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677945" y="3410712"/>
            <a:ext cx="0" cy="91439"/>
          </a:xfrm>
          <a:prstGeom prst="line">
            <a:avLst/>
          </a:prstGeom>
          <a:ln w="12700">
            <a:solidFill>
              <a:srgbClr val="0F2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403625" y="351129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 i="0">
                <a:solidFill>
                  <a:srgbClr val="1A1F2C"/>
                </a:solidFill>
                <a:latin typeface="Calibri"/>
              </a:rPr>
              <a:t>1975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532077" y="3410712"/>
            <a:ext cx="0" cy="91439"/>
          </a:xfrm>
          <a:prstGeom prst="line">
            <a:avLst/>
          </a:prstGeom>
          <a:ln w="12700">
            <a:solidFill>
              <a:srgbClr val="0F2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257757" y="351129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 i="0">
                <a:solidFill>
                  <a:srgbClr val="1A1F2C"/>
                </a:solidFill>
                <a:latin typeface="Calibri"/>
              </a:rPr>
              <a:t>1980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386210" y="3410712"/>
            <a:ext cx="0" cy="91439"/>
          </a:xfrm>
          <a:prstGeom prst="line">
            <a:avLst/>
          </a:prstGeom>
          <a:ln w="12700">
            <a:solidFill>
              <a:srgbClr val="0F2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111890" y="351129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 i="0">
                <a:solidFill>
                  <a:srgbClr val="1A1F2C"/>
                </a:solidFill>
                <a:latin typeface="Calibri"/>
              </a:rPr>
              <a:t>1985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240343" y="3410712"/>
            <a:ext cx="0" cy="91439"/>
          </a:xfrm>
          <a:prstGeom prst="line">
            <a:avLst/>
          </a:prstGeom>
          <a:ln w="12700">
            <a:solidFill>
              <a:srgbClr val="0F2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966023" y="351129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 i="0">
                <a:solidFill>
                  <a:srgbClr val="1A1F2C"/>
                </a:solidFill>
                <a:latin typeface="Calibri"/>
              </a:rPr>
              <a:t>1990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94476" y="3410712"/>
            <a:ext cx="0" cy="91439"/>
          </a:xfrm>
          <a:prstGeom prst="line">
            <a:avLst/>
          </a:prstGeom>
          <a:ln w="12700">
            <a:solidFill>
              <a:srgbClr val="0F2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820156" y="351129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 i="0">
                <a:solidFill>
                  <a:srgbClr val="1A1F2C"/>
                </a:solidFill>
                <a:latin typeface="Calibri"/>
              </a:rPr>
              <a:t>1995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948608" y="3410712"/>
            <a:ext cx="0" cy="91439"/>
          </a:xfrm>
          <a:prstGeom prst="line">
            <a:avLst/>
          </a:prstGeom>
          <a:ln w="12700">
            <a:solidFill>
              <a:srgbClr val="0F2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674288" y="351129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 i="0">
                <a:solidFill>
                  <a:srgbClr val="1A1F2C"/>
                </a:solidFill>
                <a:latin typeface="Calibri"/>
              </a:rPr>
              <a:t>2000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802741" y="3410712"/>
            <a:ext cx="0" cy="91439"/>
          </a:xfrm>
          <a:prstGeom prst="line">
            <a:avLst/>
          </a:prstGeom>
          <a:ln w="12700">
            <a:solidFill>
              <a:srgbClr val="0F2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528421" y="351129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 i="0">
                <a:solidFill>
                  <a:srgbClr val="1A1F2C"/>
                </a:solidFill>
                <a:latin typeface="Calibri"/>
              </a:rPr>
              <a:t>2005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656874" y="3410712"/>
            <a:ext cx="0" cy="91439"/>
          </a:xfrm>
          <a:prstGeom prst="line">
            <a:avLst/>
          </a:prstGeom>
          <a:ln w="12700">
            <a:solidFill>
              <a:srgbClr val="0F2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382554" y="351129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 i="0">
                <a:solidFill>
                  <a:srgbClr val="1A1F2C"/>
                </a:solidFill>
                <a:latin typeface="Calibri"/>
              </a:rPr>
              <a:t>2010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511006" y="3410712"/>
            <a:ext cx="0" cy="91439"/>
          </a:xfrm>
          <a:prstGeom prst="line">
            <a:avLst/>
          </a:prstGeom>
          <a:ln w="12700">
            <a:solidFill>
              <a:srgbClr val="0F2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236686" y="351129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 i="0">
                <a:solidFill>
                  <a:srgbClr val="1A1F2C"/>
                </a:solidFill>
                <a:latin typeface="Calibri"/>
              </a:rPr>
              <a:t>2015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0365139" y="3410712"/>
            <a:ext cx="0" cy="91439"/>
          </a:xfrm>
          <a:prstGeom prst="line">
            <a:avLst/>
          </a:prstGeom>
          <a:ln w="12700">
            <a:solidFill>
              <a:srgbClr val="0F2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0090819" y="351129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 i="0">
                <a:solidFill>
                  <a:srgbClr val="1A1F2C"/>
                </a:solidFill>
                <a:latin typeface="Calibri"/>
              </a:rPr>
              <a:t>2020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1219272" y="3410712"/>
            <a:ext cx="0" cy="91439"/>
          </a:xfrm>
          <a:prstGeom prst="line">
            <a:avLst/>
          </a:prstGeom>
          <a:ln w="12700">
            <a:solidFill>
              <a:srgbClr val="0F2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0944952" y="351129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 i="0">
                <a:solidFill>
                  <a:srgbClr val="1A1F2C"/>
                </a:solidFill>
                <a:latin typeface="Calibri"/>
              </a:rPr>
              <a:t>2025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2073405" y="3410712"/>
            <a:ext cx="0" cy="91439"/>
          </a:xfrm>
          <a:prstGeom prst="line">
            <a:avLst/>
          </a:prstGeom>
          <a:ln w="12700">
            <a:solidFill>
              <a:srgbClr val="0F2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1799085" y="3511296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1" i="0">
                <a:solidFill>
                  <a:srgbClr val="1A1F2C"/>
                </a:solidFill>
                <a:latin typeface="Calibri"/>
              </a:rPr>
              <a:t>2030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823812" y="1554480"/>
            <a:ext cx="0" cy="1892808"/>
          </a:xfrm>
          <a:prstGeom prst="line">
            <a:avLst/>
          </a:prstGeom>
          <a:ln w="635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1138012" y="109728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38012" y="1097280"/>
            <a:ext cx="54864" cy="457200"/>
          </a:xfrm>
          <a:prstGeom prst="rect">
            <a:avLst/>
          </a:prstGeom>
          <a:solidFill>
            <a:srgbClr val="2E5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29452" y="1124712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1">
                <a:solidFill>
                  <a:srgbClr val="2E5A97"/>
                </a:solidFill>
                <a:latin typeface="Calibri"/>
              </a:rPr>
              <a:t>1970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29452" y="1252728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A1F2C"/>
                </a:solidFill>
                <a:latin typeface="Calibri"/>
              </a:rPr>
              <a:t>Wimpy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29452" y="140817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F6B7E"/>
                </a:solidFill>
                <a:latin typeface="Calibri"/>
              </a:rPr>
              <a:t>Kuwait — burger</a:t>
            </a:r>
          </a:p>
        </p:txBody>
      </p:sp>
      <p:sp>
        <p:nvSpPr>
          <p:cNvPr id="50" name="Oval 49"/>
          <p:cNvSpPr/>
          <p:nvPr/>
        </p:nvSpPr>
        <p:spPr>
          <a:xfrm>
            <a:off x="1787236" y="3419856"/>
            <a:ext cx="73152" cy="73152"/>
          </a:xfrm>
          <a:prstGeom prst="ellipse">
            <a:avLst/>
          </a:prstGeom>
          <a:solidFill>
            <a:srgbClr val="2E5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2165465" y="2000250"/>
            <a:ext cx="0" cy="1447038"/>
          </a:xfrm>
          <a:prstGeom prst="line">
            <a:avLst/>
          </a:prstGeom>
          <a:ln w="635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1479665" y="154305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479665" y="1543050"/>
            <a:ext cx="54864" cy="457200"/>
          </a:xfrm>
          <a:prstGeom prst="rect">
            <a:avLst/>
          </a:prstGeom>
          <a:solidFill>
            <a:srgbClr val="2E5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571105" y="1570482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1">
                <a:solidFill>
                  <a:srgbClr val="2E5A97"/>
                </a:solidFill>
                <a:latin typeface="Calibri"/>
              </a:rPr>
              <a:t>1972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71105" y="1698498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A1F2C"/>
                </a:solidFill>
                <a:latin typeface="Calibri"/>
              </a:rPr>
              <a:t>Chicken Tikka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71105" y="1853945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F6B7E"/>
                </a:solidFill>
                <a:latin typeface="Calibri"/>
              </a:rPr>
              <a:t>Cairo — grilled chicken</a:t>
            </a:r>
          </a:p>
        </p:txBody>
      </p:sp>
      <p:sp>
        <p:nvSpPr>
          <p:cNvPr id="57" name="Oval 56"/>
          <p:cNvSpPr/>
          <p:nvPr/>
        </p:nvSpPr>
        <p:spPr>
          <a:xfrm>
            <a:off x="2128889" y="3419856"/>
            <a:ext cx="73152" cy="73152"/>
          </a:xfrm>
          <a:prstGeom prst="ellipse">
            <a:avLst/>
          </a:prstGeom>
          <a:solidFill>
            <a:srgbClr val="2E5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2336291" y="2446020"/>
            <a:ext cx="0" cy="1001268"/>
          </a:xfrm>
          <a:prstGeom prst="line">
            <a:avLst/>
          </a:prstGeom>
          <a:ln w="635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1650491" y="1988819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650491" y="1988819"/>
            <a:ext cx="54864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741931" y="2016251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1">
                <a:solidFill>
                  <a:srgbClr val="C0392B"/>
                </a:solidFill>
                <a:latin typeface="Calibri"/>
              </a:rPr>
              <a:t>1973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41931" y="2144268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A1F2C"/>
                </a:solidFill>
                <a:latin typeface="Calibri"/>
              </a:rPr>
              <a:t>KFC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741931" y="2299715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F6B7E"/>
                </a:solidFill>
                <a:latin typeface="Calibri"/>
              </a:rPr>
              <a:t>Kuwait — Yum! franchise</a:t>
            </a:r>
          </a:p>
        </p:txBody>
      </p:sp>
      <p:sp>
        <p:nvSpPr>
          <p:cNvPr id="64" name="Oval 63"/>
          <p:cNvSpPr/>
          <p:nvPr/>
        </p:nvSpPr>
        <p:spPr>
          <a:xfrm>
            <a:off x="2299715" y="3419856"/>
            <a:ext cx="73152" cy="73152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3361251" y="2891789"/>
            <a:ext cx="0" cy="555499"/>
          </a:xfrm>
          <a:prstGeom prst="line">
            <a:avLst/>
          </a:prstGeom>
          <a:ln w="635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2675451" y="2434589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675451" y="2434589"/>
            <a:ext cx="54864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66891" y="2462021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1">
                <a:solidFill>
                  <a:srgbClr val="C0392B"/>
                </a:solidFill>
                <a:latin typeface="Calibri"/>
              </a:rPr>
              <a:t>1979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766891" y="2590037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A1F2C"/>
                </a:solidFill>
                <a:latin typeface="Calibri"/>
              </a:rPr>
              <a:t>Pizza Hut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66891" y="2745485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F6B7E"/>
                </a:solidFill>
                <a:latin typeface="Calibri"/>
              </a:rPr>
              <a:t>UAE — Yum! franchise</a:t>
            </a:r>
          </a:p>
        </p:txBody>
      </p:sp>
      <p:sp>
        <p:nvSpPr>
          <p:cNvPr id="71" name="Oval 70"/>
          <p:cNvSpPr/>
          <p:nvPr/>
        </p:nvSpPr>
        <p:spPr>
          <a:xfrm>
            <a:off x="3324675" y="3419856"/>
            <a:ext cx="73152" cy="73152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" name="Connector 71"/>
          <p:cNvCxnSpPr/>
          <p:nvPr/>
        </p:nvCxnSpPr>
        <p:spPr>
          <a:xfrm>
            <a:off x="3532077" y="3337559"/>
            <a:ext cx="0" cy="109729"/>
          </a:xfrm>
          <a:prstGeom prst="line">
            <a:avLst/>
          </a:prstGeom>
          <a:ln w="635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2846277" y="2880359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846277" y="2880359"/>
            <a:ext cx="54864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937717" y="2907791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1">
                <a:solidFill>
                  <a:srgbClr val="C0392B"/>
                </a:solidFill>
                <a:latin typeface="Calibri"/>
              </a:rPr>
              <a:t>1980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937717" y="3035807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A1F2C"/>
                </a:solidFill>
                <a:latin typeface="Calibri"/>
              </a:rPr>
              <a:t>Hardee's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937717" y="3191255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F6B7E"/>
                </a:solidFill>
                <a:latin typeface="Calibri"/>
              </a:rPr>
              <a:t>KSA — CKE franchise</a:t>
            </a:r>
          </a:p>
        </p:txBody>
      </p:sp>
      <p:sp>
        <p:nvSpPr>
          <p:cNvPr id="78" name="Oval 77"/>
          <p:cNvSpPr/>
          <p:nvPr/>
        </p:nvSpPr>
        <p:spPr>
          <a:xfrm>
            <a:off x="3495501" y="3419856"/>
            <a:ext cx="73152" cy="73152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4557037" y="1554480"/>
            <a:ext cx="0" cy="1892808"/>
          </a:xfrm>
          <a:prstGeom prst="line">
            <a:avLst/>
          </a:prstGeom>
          <a:ln w="635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3871237" y="109728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871237" y="1097280"/>
            <a:ext cx="54864" cy="457200"/>
          </a:xfrm>
          <a:prstGeom prst="rect">
            <a:avLst/>
          </a:prstGeom>
          <a:solidFill>
            <a:srgbClr val="2E5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962677" y="1124712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1">
                <a:solidFill>
                  <a:srgbClr val="2E5A97"/>
                </a:solidFill>
                <a:latin typeface="Calibri"/>
              </a:rPr>
              <a:t>1986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962677" y="1252728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A1F2C"/>
                </a:solidFill>
                <a:latin typeface="Calibri"/>
              </a:rPr>
              <a:t>Baskin Robbins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962677" y="140817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F6B7E"/>
                </a:solidFill>
                <a:latin typeface="Calibri"/>
              </a:rPr>
              <a:t>Inspire Brands — ice cream</a:t>
            </a:r>
          </a:p>
        </p:txBody>
      </p:sp>
      <p:sp>
        <p:nvSpPr>
          <p:cNvPr id="85" name="Oval 84"/>
          <p:cNvSpPr/>
          <p:nvPr/>
        </p:nvSpPr>
        <p:spPr>
          <a:xfrm>
            <a:off x="4520461" y="3419856"/>
            <a:ext cx="73152" cy="73152"/>
          </a:xfrm>
          <a:prstGeom prst="ellipse">
            <a:avLst/>
          </a:prstGeom>
          <a:solidFill>
            <a:srgbClr val="2E5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>
            <a:off x="5923649" y="2000250"/>
            <a:ext cx="0" cy="1447038"/>
          </a:xfrm>
          <a:prstGeom prst="line">
            <a:avLst/>
          </a:prstGeom>
          <a:ln w="635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5237849" y="154305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237849" y="1543050"/>
            <a:ext cx="54864" cy="457200"/>
          </a:xfrm>
          <a:prstGeom prst="rect">
            <a:avLst/>
          </a:prstGeom>
          <a:solidFill>
            <a:srgbClr val="2E5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329289" y="1570482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1">
                <a:solidFill>
                  <a:srgbClr val="2E5A97"/>
                </a:solidFill>
                <a:latin typeface="Calibri"/>
              </a:rPr>
              <a:t>1994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329289" y="1698498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A1F2C"/>
                </a:solidFill>
                <a:latin typeface="Calibri"/>
              </a:rPr>
              <a:t>TGI Fridays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329289" y="1853945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F6B7E"/>
                </a:solidFill>
                <a:latin typeface="Calibri"/>
              </a:rPr>
              <a:t>Casual dining</a:t>
            </a:r>
          </a:p>
        </p:txBody>
      </p:sp>
      <p:sp>
        <p:nvSpPr>
          <p:cNvPr id="92" name="Oval 91"/>
          <p:cNvSpPr/>
          <p:nvPr/>
        </p:nvSpPr>
        <p:spPr>
          <a:xfrm>
            <a:off x="5887073" y="3419856"/>
            <a:ext cx="73152" cy="73152"/>
          </a:xfrm>
          <a:prstGeom prst="ellipse">
            <a:avLst/>
          </a:prstGeom>
          <a:solidFill>
            <a:srgbClr val="2E5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" name="Connector 92"/>
          <p:cNvCxnSpPr/>
          <p:nvPr/>
        </p:nvCxnSpPr>
        <p:spPr>
          <a:xfrm>
            <a:off x="7631914" y="2446020"/>
            <a:ext cx="0" cy="1001268"/>
          </a:xfrm>
          <a:prstGeom prst="line">
            <a:avLst/>
          </a:prstGeom>
          <a:ln w="635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6946114" y="1988819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946114" y="1988819"/>
            <a:ext cx="54864" cy="457200"/>
          </a:xfrm>
          <a:prstGeom prst="rect">
            <a:avLst/>
          </a:prstGeom>
          <a:solidFill>
            <a:srgbClr val="2E5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037554" y="2016251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1">
                <a:solidFill>
                  <a:srgbClr val="2E5A97"/>
                </a:solidFill>
                <a:latin typeface="Calibri"/>
              </a:rPr>
              <a:t>2004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037554" y="2144268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A1F2C"/>
                </a:solidFill>
                <a:latin typeface="Calibri"/>
              </a:rPr>
              <a:t>Costa Coffee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037554" y="2299715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F6B7E"/>
                </a:solidFill>
                <a:latin typeface="Calibri"/>
              </a:rPr>
              <a:t>Coffee — exclusive MENA</a:t>
            </a:r>
          </a:p>
        </p:txBody>
      </p:sp>
      <p:sp>
        <p:nvSpPr>
          <p:cNvPr id="99" name="Oval 98"/>
          <p:cNvSpPr/>
          <p:nvPr/>
        </p:nvSpPr>
        <p:spPr>
          <a:xfrm>
            <a:off x="7595338" y="3419856"/>
            <a:ext cx="73152" cy="73152"/>
          </a:xfrm>
          <a:prstGeom prst="ellipse">
            <a:avLst/>
          </a:prstGeom>
          <a:solidFill>
            <a:srgbClr val="2E5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" name="Connector 99"/>
          <p:cNvCxnSpPr/>
          <p:nvPr/>
        </p:nvCxnSpPr>
        <p:spPr>
          <a:xfrm>
            <a:off x="7973567" y="2891789"/>
            <a:ext cx="0" cy="555499"/>
          </a:xfrm>
          <a:prstGeom prst="line">
            <a:avLst/>
          </a:prstGeom>
          <a:ln w="635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 100"/>
          <p:cNvSpPr/>
          <p:nvPr/>
        </p:nvSpPr>
        <p:spPr>
          <a:xfrm>
            <a:off x="7287767" y="2434589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287767" y="2434589"/>
            <a:ext cx="54864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379207" y="2462021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1">
                <a:solidFill>
                  <a:srgbClr val="C0392B"/>
                </a:solidFill>
                <a:latin typeface="Calibri"/>
              </a:rPr>
              <a:t>2006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379207" y="2590037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A1F2C"/>
                </a:solidFill>
                <a:latin typeface="Calibri"/>
              </a:rPr>
              <a:t>Krispy Kreme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379207" y="2745485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F6B7E"/>
                </a:solidFill>
                <a:latin typeface="Calibri"/>
              </a:rPr>
              <a:t>MENA franchise rights</a:t>
            </a:r>
          </a:p>
        </p:txBody>
      </p:sp>
      <p:sp>
        <p:nvSpPr>
          <p:cNvPr id="106" name="Oval 105"/>
          <p:cNvSpPr/>
          <p:nvPr/>
        </p:nvSpPr>
        <p:spPr>
          <a:xfrm>
            <a:off x="7936992" y="3419856"/>
            <a:ext cx="73152" cy="73152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7" name="Connector 106"/>
          <p:cNvCxnSpPr/>
          <p:nvPr/>
        </p:nvCxnSpPr>
        <p:spPr>
          <a:xfrm>
            <a:off x="10706792" y="3337559"/>
            <a:ext cx="0" cy="109729"/>
          </a:xfrm>
          <a:prstGeom prst="line">
            <a:avLst/>
          </a:prstGeom>
          <a:ln w="635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ectangle 107"/>
          <p:cNvSpPr/>
          <p:nvPr/>
        </p:nvSpPr>
        <p:spPr>
          <a:xfrm>
            <a:off x="10020992" y="2880359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020992" y="2880359"/>
            <a:ext cx="54864" cy="457200"/>
          </a:xfrm>
          <a:prstGeom prst="rect">
            <a:avLst/>
          </a:prstGeom>
          <a:solidFill>
            <a:srgbClr val="2E5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0112432" y="2907791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1">
                <a:solidFill>
                  <a:srgbClr val="2E5A97"/>
                </a:solidFill>
                <a:latin typeface="Calibri"/>
              </a:rPr>
              <a:t>2022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112432" y="3035807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A1F2C"/>
                </a:solidFill>
                <a:latin typeface="Calibri"/>
              </a:rPr>
              <a:t>Peet's Coffee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112432" y="3191255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F6B7E"/>
                </a:solidFill>
                <a:latin typeface="Calibri"/>
              </a:rPr>
              <a:t>JDE Peet's — premium coffee</a:t>
            </a:r>
          </a:p>
        </p:txBody>
      </p:sp>
      <p:sp>
        <p:nvSpPr>
          <p:cNvPr id="113" name="Oval 112"/>
          <p:cNvSpPr/>
          <p:nvPr/>
        </p:nvSpPr>
        <p:spPr>
          <a:xfrm>
            <a:off x="10670216" y="3419856"/>
            <a:ext cx="73152" cy="73152"/>
          </a:xfrm>
          <a:prstGeom prst="ellipse">
            <a:avLst/>
          </a:prstGeom>
          <a:solidFill>
            <a:srgbClr val="2E5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4" name="Connector 113"/>
          <p:cNvCxnSpPr/>
          <p:nvPr/>
        </p:nvCxnSpPr>
        <p:spPr>
          <a:xfrm>
            <a:off x="11219272" y="1554480"/>
            <a:ext cx="0" cy="1892808"/>
          </a:xfrm>
          <a:prstGeom prst="line">
            <a:avLst/>
          </a:prstGeom>
          <a:ln w="635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ectangle 114"/>
          <p:cNvSpPr/>
          <p:nvPr/>
        </p:nvSpPr>
        <p:spPr>
          <a:xfrm>
            <a:off x="10360152" y="109728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0360152" y="1097280"/>
            <a:ext cx="54864" cy="457200"/>
          </a:xfrm>
          <a:prstGeom prst="rect">
            <a:avLst/>
          </a:prstGeom>
          <a:solidFill>
            <a:srgbClr val="2E5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451592" y="1124712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1">
                <a:solidFill>
                  <a:srgbClr val="2E5A97"/>
                </a:solidFill>
                <a:latin typeface="Calibri"/>
              </a:rPr>
              <a:t>2025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451592" y="1252728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A1F2C"/>
                </a:solidFill>
                <a:latin typeface="Calibri"/>
              </a:rPr>
              <a:t>Pizza Hut Oman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451592" y="1408176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F6B7E"/>
                </a:solidFill>
                <a:latin typeface="Calibri"/>
              </a:rPr>
              <a:t>Bolt-on — 46 restaurants</a:t>
            </a:r>
          </a:p>
        </p:txBody>
      </p:sp>
      <p:sp>
        <p:nvSpPr>
          <p:cNvPr id="120" name="Oval 119"/>
          <p:cNvSpPr/>
          <p:nvPr/>
        </p:nvSpPr>
        <p:spPr>
          <a:xfrm>
            <a:off x="11182696" y="3419856"/>
            <a:ext cx="73152" cy="73152"/>
          </a:xfrm>
          <a:prstGeom prst="ellipse">
            <a:avLst/>
          </a:prstGeom>
          <a:solidFill>
            <a:srgbClr val="2E5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11219272" y="2000250"/>
            <a:ext cx="0" cy="1447038"/>
          </a:xfrm>
          <a:prstGeom prst="line">
            <a:avLst/>
          </a:prstGeom>
          <a:ln w="635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Rectangle 121"/>
          <p:cNvSpPr/>
          <p:nvPr/>
        </p:nvSpPr>
        <p:spPr>
          <a:xfrm>
            <a:off x="10360152" y="154305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0360152" y="1543050"/>
            <a:ext cx="54864" cy="457200"/>
          </a:xfrm>
          <a:prstGeom prst="rect">
            <a:avLst/>
          </a:prstGeom>
          <a:solidFill>
            <a:srgbClr val="2E5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451592" y="1570482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1">
                <a:solidFill>
                  <a:srgbClr val="2E5A97"/>
                </a:solidFill>
                <a:latin typeface="Calibri"/>
              </a:rPr>
              <a:t>2025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451592" y="1698498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A1F2C"/>
                </a:solidFill>
                <a:latin typeface="Calibri"/>
              </a:rPr>
              <a:t>Carpo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451592" y="1853945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F6B7E"/>
                </a:solidFill>
                <a:latin typeface="Calibri"/>
              </a:rPr>
              <a:t>BHR / KWT / QAT / KSA license</a:t>
            </a:r>
          </a:p>
        </p:txBody>
      </p:sp>
      <p:sp>
        <p:nvSpPr>
          <p:cNvPr id="127" name="Oval 126"/>
          <p:cNvSpPr/>
          <p:nvPr/>
        </p:nvSpPr>
        <p:spPr>
          <a:xfrm>
            <a:off x="11182696" y="3419856"/>
            <a:ext cx="73152" cy="73152"/>
          </a:xfrm>
          <a:prstGeom prst="ellipse">
            <a:avLst/>
          </a:prstGeom>
          <a:solidFill>
            <a:srgbClr val="2E5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8" name="Connector 127"/>
          <p:cNvCxnSpPr/>
          <p:nvPr/>
        </p:nvCxnSpPr>
        <p:spPr>
          <a:xfrm>
            <a:off x="11390098" y="2446020"/>
            <a:ext cx="0" cy="1001268"/>
          </a:xfrm>
          <a:prstGeom prst="line">
            <a:avLst/>
          </a:prstGeom>
          <a:ln w="635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Rectangle 128"/>
          <p:cNvSpPr/>
          <p:nvPr/>
        </p:nvSpPr>
        <p:spPr>
          <a:xfrm>
            <a:off x="10360152" y="1988819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5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0360152" y="1988819"/>
            <a:ext cx="54864" cy="457200"/>
          </a:xfrm>
          <a:prstGeom prst="rect">
            <a:avLst/>
          </a:prstGeom>
          <a:solidFill>
            <a:srgbClr val="2E5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0451592" y="2016251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1">
                <a:solidFill>
                  <a:srgbClr val="2E5A97"/>
                </a:solidFill>
                <a:latin typeface="Calibri"/>
              </a:rPr>
              <a:t>2026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451592" y="2144268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A1F2C"/>
                </a:solidFill>
                <a:latin typeface="Calibri"/>
              </a:rPr>
              <a:t>Malak Al Tawouk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0451592" y="2299715"/>
            <a:ext cx="12344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F6B7E"/>
                </a:solidFill>
                <a:latin typeface="Calibri"/>
              </a:rPr>
              <a:t>Lebanese QSR — 75-yr licence</a:t>
            </a:r>
          </a:p>
        </p:txBody>
      </p:sp>
      <p:sp>
        <p:nvSpPr>
          <p:cNvPr id="134" name="Oval 133"/>
          <p:cNvSpPr/>
          <p:nvPr/>
        </p:nvSpPr>
        <p:spPr>
          <a:xfrm>
            <a:off x="11353522" y="3419856"/>
            <a:ext cx="73152" cy="73152"/>
          </a:xfrm>
          <a:prstGeom prst="ellipse">
            <a:avLst/>
          </a:prstGeom>
          <a:solidFill>
            <a:srgbClr val="2E5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57200" y="3822191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F6B7E"/>
                </a:solidFill>
                <a:latin typeface="Calibri"/>
              </a:rPr>
              <a:t>COUNTRIES ENTERED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798853" y="3465575"/>
            <a:ext cx="0" cy="539497"/>
          </a:xfrm>
          <a:prstGeom prst="line">
            <a:avLst/>
          </a:prstGeom>
          <a:ln w="635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Rectangle 136"/>
          <p:cNvSpPr/>
          <p:nvPr/>
        </p:nvSpPr>
        <p:spPr>
          <a:xfrm>
            <a:off x="457200" y="4005072"/>
            <a:ext cx="1417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F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57200" y="4005072"/>
            <a:ext cx="54864" cy="411480"/>
          </a:xfrm>
          <a:prstGeom prst="rect">
            <a:avLst/>
          </a:prstGeom>
          <a:solidFill>
            <a:srgbClr val="2F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48640" y="4032504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1">
                <a:solidFill>
                  <a:srgbClr val="2F7A4A"/>
                </a:solidFill>
                <a:latin typeface="Calibri"/>
              </a:rPr>
              <a:t>1964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48640" y="4160520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A1F2C"/>
                </a:solidFill>
                <a:latin typeface="Calibri"/>
              </a:rPr>
              <a:t>Kuwait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48640" y="4297680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F6B7E"/>
                </a:solidFill>
                <a:latin typeface="Calibri"/>
              </a:rPr>
              <a:t>Origin / founding market</a:t>
            </a:r>
          </a:p>
        </p:txBody>
      </p:sp>
      <p:sp>
        <p:nvSpPr>
          <p:cNvPr id="142" name="Oval 141"/>
          <p:cNvSpPr/>
          <p:nvPr/>
        </p:nvSpPr>
        <p:spPr>
          <a:xfrm>
            <a:off x="762277" y="3419856"/>
            <a:ext cx="73152" cy="73152"/>
          </a:xfrm>
          <a:prstGeom prst="ellipse">
            <a:avLst/>
          </a:prstGeom>
          <a:solidFill>
            <a:srgbClr val="2F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3" name="Connector 142"/>
          <p:cNvCxnSpPr/>
          <p:nvPr/>
        </p:nvCxnSpPr>
        <p:spPr>
          <a:xfrm>
            <a:off x="2165465" y="3465575"/>
            <a:ext cx="0" cy="1042417"/>
          </a:xfrm>
          <a:prstGeom prst="line">
            <a:avLst/>
          </a:prstGeom>
          <a:ln w="635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Rectangle 143"/>
          <p:cNvSpPr/>
          <p:nvPr/>
        </p:nvSpPr>
        <p:spPr>
          <a:xfrm>
            <a:off x="1456805" y="4507992"/>
            <a:ext cx="1417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F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456805" y="4507992"/>
            <a:ext cx="54864" cy="411480"/>
          </a:xfrm>
          <a:prstGeom prst="rect">
            <a:avLst/>
          </a:prstGeom>
          <a:solidFill>
            <a:srgbClr val="2F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548245" y="4535424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1">
                <a:solidFill>
                  <a:srgbClr val="2F7A4A"/>
                </a:solidFill>
                <a:latin typeface="Calibri"/>
              </a:rPr>
              <a:t>1972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548245" y="4663440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A1F2C"/>
                </a:solidFill>
                <a:latin typeface="Calibri"/>
              </a:rPr>
              <a:t>Egypt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548245" y="4800600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F6B7E"/>
                </a:solidFill>
                <a:latin typeface="Calibri"/>
              </a:rPr>
              <a:t>Chicken Tikka — Cairo</a:t>
            </a:r>
          </a:p>
        </p:txBody>
      </p:sp>
      <p:sp>
        <p:nvSpPr>
          <p:cNvPr id="149" name="Oval 148"/>
          <p:cNvSpPr/>
          <p:nvPr/>
        </p:nvSpPr>
        <p:spPr>
          <a:xfrm>
            <a:off x="2128889" y="3419856"/>
            <a:ext cx="73152" cy="73152"/>
          </a:xfrm>
          <a:prstGeom prst="ellipse">
            <a:avLst/>
          </a:prstGeom>
          <a:solidFill>
            <a:srgbClr val="2F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0" name="Connector 149"/>
          <p:cNvCxnSpPr/>
          <p:nvPr/>
        </p:nvCxnSpPr>
        <p:spPr>
          <a:xfrm>
            <a:off x="3361251" y="3465575"/>
            <a:ext cx="0" cy="1545337"/>
          </a:xfrm>
          <a:prstGeom prst="line">
            <a:avLst/>
          </a:prstGeom>
          <a:ln w="635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Rectangle 150"/>
          <p:cNvSpPr/>
          <p:nvPr/>
        </p:nvSpPr>
        <p:spPr>
          <a:xfrm>
            <a:off x="2652591" y="5010912"/>
            <a:ext cx="1417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F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2652591" y="5010912"/>
            <a:ext cx="54864" cy="411480"/>
          </a:xfrm>
          <a:prstGeom prst="rect">
            <a:avLst/>
          </a:prstGeom>
          <a:solidFill>
            <a:srgbClr val="2F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2744031" y="5038344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1">
                <a:solidFill>
                  <a:srgbClr val="2F7A4A"/>
                </a:solidFill>
                <a:latin typeface="Calibri"/>
              </a:rPr>
              <a:t>1979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2744031" y="5166360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A1F2C"/>
                </a:solidFill>
                <a:latin typeface="Calibri"/>
              </a:rPr>
              <a:t>UAE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744031" y="5303520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F6B7E"/>
                </a:solidFill>
                <a:latin typeface="Calibri"/>
              </a:rPr>
              <a:t>Pizza Hut launch</a:t>
            </a:r>
          </a:p>
        </p:txBody>
      </p:sp>
      <p:sp>
        <p:nvSpPr>
          <p:cNvPr id="156" name="Oval 155"/>
          <p:cNvSpPr/>
          <p:nvPr/>
        </p:nvSpPr>
        <p:spPr>
          <a:xfrm>
            <a:off x="3324675" y="3419856"/>
            <a:ext cx="73152" cy="73152"/>
          </a:xfrm>
          <a:prstGeom prst="ellipse">
            <a:avLst/>
          </a:prstGeom>
          <a:solidFill>
            <a:srgbClr val="2F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7" name="Connector 156"/>
          <p:cNvCxnSpPr/>
          <p:nvPr/>
        </p:nvCxnSpPr>
        <p:spPr>
          <a:xfrm>
            <a:off x="3532077" y="3465575"/>
            <a:ext cx="0" cy="539497"/>
          </a:xfrm>
          <a:prstGeom prst="line">
            <a:avLst/>
          </a:prstGeom>
          <a:ln w="635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Rectangle 157"/>
          <p:cNvSpPr/>
          <p:nvPr/>
        </p:nvSpPr>
        <p:spPr>
          <a:xfrm>
            <a:off x="2823417" y="4005072"/>
            <a:ext cx="1417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F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2823417" y="4005072"/>
            <a:ext cx="54864" cy="411480"/>
          </a:xfrm>
          <a:prstGeom prst="rect">
            <a:avLst/>
          </a:prstGeom>
          <a:solidFill>
            <a:srgbClr val="2F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2914857" y="4032504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1">
                <a:solidFill>
                  <a:srgbClr val="2F7A4A"/>
                </a:solidFill>
                <a:latin typeface="Calibri"/>
              </a:rPr>
              <a:t>1980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914857" y="4160520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A1F2C"/>
                </a:solidFill>
                <a:latin typeface="Calibri"/>
              </a:rPr>
              <a:t>KSA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914857" y="4297680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F6B7E"/>
                </a:solidFill>
                <a:latin typeface="Calibri"/>
              </a:rPr>
              <a:t>Hardee's launch</a:t>
            </a:r>
          </a:p>
        </p:txBody>
      </p:sp>
      <p:sp>
        <p:nvSpPr>
          <p:cNvPr id="163" name="Oval 162"/>
          <p:cNvSpPr/>
          <p:nvPr/>
        </p:nvSpPr>
        <p:spPr>
          <a:xfrm>
            <a:off x="3495501" y="3419856"/>
            <a:ext cx="73152" cy="73152"/>
          </a:xfrm>
          <a:prstGeom prst="ellipse">
            <a:avLst/>
          </a:prstGeom>
          <a:solidFill>
            <a:srgbClr val="2F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4" name="Connector 163"/>
          <p:cNvCxnSpPr/>
          <p:nvPr/>
        </p:nvCxnSpPr>
        <p:spPr>
          <a:xfrm>
            <a:off x="7119435" y="3465575"/>
            <a:ext cx="0" cy="1042417"/>
          </a:xfrm>
          <a:prstGeom prst="line">
            <a:avLst/>
          </a:prstGeom>
          <a:ln w="635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Rectangle 164"/>
          <p:cNvSpPr/>
          <p:nvPr/>
        </p:nvSpPr>
        <p:spPr>
          <a:xfrm>
            <a:off x="6410775" y="4507992"/>
            <a:ext cx="1417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F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410775" y="4507992"/>
            <a:ext cx="54864" cy="411480"/>
          </a:xfrm>
          <a:prstGeom prst="rect">
            <a:avLst/>
          </a:prstGeom>
          <a:solidFill>
            <a:srgbClr val="2F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6502215" y="4535424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1">
                <a:solidFill>
                  <a:srgbClr val="2F7A4A"/>
                </a:solidFill>
                <a:latin typeface="Calibri"/>
              </a:rPr>
              <a:t>2001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502215" y="4663440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A1F2C"/>
                </a:solidFill>
                <a:latin typeface="Calibri"/>
              </a:rPr>
              <a:t>Morocco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502215" y="4800600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F6B7E"/>
                </a:solidFill>
                <a:latin typeface="Calibri"/>
              </a:rPr>
              <a:t>First North-African market</a:t>
            </a:r>
          </a:p>
        </p:txBody>
      </p:sp>
      <p:sp>
        <p:nvSpPr>
          <p:cNvPr id="170" name="Oval 169"/>
          <p:cNvSpPr/>
          <p:nvPr/>
        </p:nvSpPr>
        <p:spPr>
          <a:xfrm>
            <a:off x="7082859" y="3419856"/>
            <a:ext cx="73152" cy="73152"/>
          </a:xfrm>
          <a:prstGeom prst="ellipse">
            <a:avLst/>
          </a:prstGeom>
          <a:solidFill>
            <a:srgbClr val="2F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1" name="Connector 170"/>
          <p:cNvCxnSpPr/>
          <p:nvPr/>
        </p:nvCxnSpPr>
        <p:spPr>
          <a:xfrm>
            <a:off x="8315221" y="3465575"/>
            <a:ext cx="0" cy="1545337"/>
          </a:xfrm>
          <a:prstGeom prst="line">
            <a:avLst/>
          </a:prstGeom>
          <a:ln w="635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Rectangle 171"/>
          <p:cNvSpPr/>
          <p:nvPr/>
        </p:nvSpPr>
        <p:spPr>
          <a:xfrm>
            <a:off x="7606561" y="5010912"/>
            <a:ext cx="1417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F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606561" y="5010912"/>
            <a:ext cx="54864" cy="411480"/>
          </a:xfrm>
          <a:prstGeom prst="rect">
            <a:avLst/>
          </a:prstGeom>
          <a:solidFill>
            <a:srgbClr val="2F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7698001" y="5038344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1">
                <a:solidFill>
                  <a:srgbClr val="2F7A4A"/>
                </a:solidFill>
                <a:latin typeface="Calibri"/>
              </a:rPr>
              <a:t>2008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698001" y="5166360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A1F2C"/>
                </a:solidFill>
                <a:latin typeface="Calibri"/>
              </a:rPr>
              <a:t>Kazakhstan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698001" y="5303520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F6B7E"/>
                </a:solidFill>
                <a:latin typeface="Calibri"/>
              </a:rPr>
              <a:t>First Central Asia market</a:t>
            </a:r>
          </a:p>
        </p:txBody>
      </p:sp>
      <p:sp>
        <p:nvSpPr>
          <p:cNvPr id="177" name="Oval 176"/>
          <p:cNvSpPr/>
          <p:nvPr/>
        </p:nvSpPr>
        <p:spPr>
          <a:xfrm>
            <a:off x="8278645" y="3419856"/>
            <a:ext cx="73152" cy="73152"/>
          </a:xfrm>
          <a:prstGeom prst="ellipse">
            <a:avLst/>
          </a:prstGeom>
          <a:solidFill>
            <a:srgbClr val="2F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8" name="Connector 177"/>
          <p:cNvCxnSpPr/>
          <p:nvPr/>
        </p:nvCxnSpPr>
        <p:spPr>
          <a:xfrm>
            <a:off x="9340180" y="3465575"/>
            <a:ext cx="0" cy="539497"/>
          </a:xfrm>
          <a:prstGeom prst="line">
            <a:avLst/>
          </a:prstGeom>
          <a:ln w="635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Rectangle 178"/>
          <p:cNvSpPr/>
          <p:nvPr/>
        </p:nvSpPr>
        <p:spPr>
          <a:xfrm>
            <a:off x="8631520" y="4005072"/>
            <a:ext cx="1417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F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631520" y="4005072"/>
            <a:ext cx="54864" cy="411480"/>
          </a:xfrm>
          <a:prstGeom prst="rect">
            <a:avLst/>
          </a:prstGeom>
          <a:solidFill>
            <a:srgbClr val="2F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8722960" y="4032504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1">
                <a:solidFill>
                  <a:srgbClr val="2F7A4A"/>
                </a:solidFill>
                <a:latin typeface="Calibri"/>
              </a:rPr>
              <a:t>2014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8722960" y="4160520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A1F2C"/>
                </a:solidFill>
                <a:latin typeface="Calibri"/>
              </a:rPr>
              <a:t>Iraq (Kurdistan)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8722960" y="4297680"/>
            <a:ext cx="12801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5F6B7E"/>
                </a:solidFill>
                <a:latin typeface="Calibri"/>
              </a:rPr>
              <a:t>Most recent greenfield</a:t>
            </a:r>
          </a:p>
        </p:txBody>
      </p:sp>
      <p:sp>
        <p:nvSpPr>
          <p:cNvPr id="184" name="Oval 183"/>
          <p:cNvSpPr/>
          <p:nvPr/>
        </p:nvSpPr>
        <p:spPr>
          <a:xfrm>
            <a:off x="9303604" y="3419856"/>
            <a:ext cx="73152" cy="73152"/>
          </a:xfrm>
          <a:prstGeom prst="ellipse">
            <a:avLst/>
          </a:prstGeom>
          <a:solidFill>
            <a:srgbClr val="2F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457200" y="5330951"/>
            <a:ext cx="1127455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 i="1">
                <a:solidFill>
                  <a:srgbClr val="5F6B7E"/>
                </a:solidFill>
                <a:latin typeface="Calibri"/>
              </a:rPr>
              <a:t>Note: Bahrain, Qatar, Oman, Jordan, Lebanon entered organically across 1980s-90s — not individually dated in 'Our Journey' disclosure.</a:t>
            </a:r>
          </a:p>
        </p:txBody>
      </p:sp>
      <p:sp>
        <p:nvSpPr>
          <p:cNvPr id="186" name="Diamond 185"/>
          <p:cNvSpPr/>
          <p:nvPr/>
        </p:nvSpPr>
        <p:spPr>
          <a:xfrm>
            <a:off x="4142231" y="3383279"/>
            <a:ext cx="146304" cy="146304"/>
          </a:xfrm>
          <a:prstGeom prst="diamond">
            <a:avLst/>
          </a:prstGeom>
          <a:solidFill>
            <a:srgbClr val="C9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3438143" y="5559551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750" b="1" i="1">
                <a:solidFill>
                  <a:srgbClr val="C99A3A"/>
                </a:solidFill>
                <a:latin typeface="Calibri"/>
              </a:rPr>
              <a:t>Listed on KSE</a:t>
            </a:r>
          </a:p>
        </p:txBody>
      </p:sp>
      <p:sp>
        <p:nvSpPr>
          <p:cNvPr id="188" name="Diamond 187"/>
          <p:cNvSpPr/>
          <p:nvPr/>
        </p:nvSpPr>
        <p:spPr>
          <a:xfrm>
            <a:off x="9608681" y="3383279"/>
            <a:ext cx="146304" cy="146304"/>
          </a:xfrm>
          <a:prstGeom prst="diamond">
            <a:avLst/>
          </a:prstGeom>
          <a:solidFill>
            <a:srgbClr val="8C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8904593" y="5559551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750" b="1" i="1">
                <a:solidFill>
                  <a:srgbClr val="8C2A22"/>
                </a:solidFill>
                <a:latin typeface="Calibri"/>
              </a:rPr>
              <a:t>Adeptio take-private</a:t>
            </a:r>
          </a:p>
        </p:txBody>
      </p:sp>
      <p:sp>
        <p:nvSpPr>
          <p:cNvPr id="190" name="Diamond 189"/>
          <p:cNvSpPr/>
          <p:nvPr/>
        </p:nvSpPr>
        <p:spPr>
          <a:xfrm>
            <a:off x="9950334" y="3383279"/>
            <a:ext cx="146304" cy="146304"/>
          </a:xfrm>
          <a:prstGeom prst="diamond">
            <a:avLst/>
          </a:prstGeom>
          <a:solidFill>
            <a:srgbClr val="8C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9246246" y="5559551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750" b="1" i="1">
                <a:solidFill>
                  <a:srgbClr val="8C2A22"/>
                </a:solidFill>
                <a:latin typeface="Calibri"/>
              </a:rPr>
              <a:t>De-listed KSE</a:t>
            </a:r>
          </a:p>
        </p:txBody>
      </p:sp>
      <p:sp>
        <p:nvSpPr>
          <p:cNvPr id="192" name="Diamond 191"/>
          <p:cNvSpPr/>
          <p:nvPr/>
        </p:nvSpPr>
        <p:spPr>
          <a:xfrm>
            <a:off x="10633640" y="3383279"/>
            <a:ext cx="146304" cy="146304"/>
          </a:xfrm>
          <a:prstGeom prst="diamond">
            <a:avLst/>
          </a:prstGeom>
          <a:solidFill>
            <a:srgbClr val="C9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9929552" y="5559551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750" b="1" i="1">
                <a:solidFill>
                  <a:srgbClr val="C99A3A"/>
                </a:solidFill>
                <a:latin typeface="Calibri"/>
              </a:rPr>
              <a:t>Dual IPO — ADX + Tadawul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274320" y="5577840"/>
            <a:ext cx="11640312" cy="713232"/>
          </a:xfrm>
          <a:prstGeom prst="rect">
            <a:avLst/>
          </a:prstGeom>
          <a:solidFill>
            <a:srgbClr val="0F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411480" y="5742431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411480" y="598932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1">
                <a:solidFill>
                  <a:srgbClr val="C0CBDC"/>
                </a:solidFill>
                <a:latin typeface="Calibri"/>
              </a:rPr>
              <a:t>(1Q26)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097280" y="5669279"/>
            <a:ext cx="18028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1097280" y="6016752"/>
            <a:ext cx="18028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 i="1">
                <a:solidFill>
                  <a:srgbClr val="C0CBDC"/>
                </a:solidFill>
                <a:latin typeface="Calibri"/>
              </a:rPr>
              <a:t>brands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2900172" y="5669279"/>
            <a:ext cx="18028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2900172" y="6016752"/>
            <a:ext cx="18028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 i="1">
                <a:solidFill>
                  <a:srgbClr val="C0CBDC"/>
                </a:solidFill>
                <a:latin typeface="Calibri"/>
              </a:rPr>
              <a:t>countries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4703064" y="5669279"/>
            <a:ext cx="18028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2,741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4703064" y="6016752"/>
            <a:ext cx="18028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 i="1">
                <a:solidFill>
                  <a:srgbClr val="C0CBDC"/>
                </a:solidFill>
                <a:latin typeface="Calibri"/>
              </a:rPr>
              <a:t>restaurants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6505956" y="5669279"/>
            <a:ext cx="18028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$2.6 bn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505956" y="6016752"/>
            <a:ext cx="18028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 i="1">
                <a:solidFill>
                  <a:srgbClr val="C0CBDC"/>
                </a:solidFill>
                <a:latin typeface="Calibri"/>
              </a:rPr>
              <a:t>LTM revenue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8308847" y="5669279"/>
            <a:ext cx="18028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$14 bn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8308847" y="6016752"/>
            <a:ext cx="18028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 i="1">
                <a:solidFill>
                  <a:srgbClr val="C0CBDC"/>
                </a:solidFill>
                <a:latin typeface="Calibri"/>
              </a:rPr>
              <a:t>market cap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0111740" y="5669279"/>
            <a:ext cx="18028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66.03%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0111740" y="6016752"/>
            <a:ext cx="18028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 i="1">
                <a:solidFill>
                  <a:srgbClr val="C0CBDC"/>
                </a:solidFill>
                <a:latin typeface="Calibri"/>
              </a:rPr>
              <a:t>Adeptio stake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274320" y="6400800"/>
            <a:ext cx="116403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 i="1">
                <a:solidFill>
                  <a:srgbClr val="5F6B7E"/>
                </a:solidFill>
                <a:latin typeface="Calibri"/>
              </a:rPr>
              <a:t>Sources: FY25 Annual Report p.30-31 'Our Journey' &amp; p.32-40 brand-by-brand 'In our portfolio since…' callouts · UAE Prospectus (Nov 2022) p.52 'History &amp; Development' · 1Q26 Investor Presentation. All shapes editable.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Ownership: who's behind Americana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Beneficial ownership chain — 8,424 Mn shares · 66% Adeptio (Alabbar + Saudi PIF, 50/50) · 34% public free float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1508760"/>
            <a:ext cx="6675120" cy="1188720"/>
          </a:xfrm>
          <a:prstGeom prst="roundRect">
            <a:avLst>
              <a:gd name="adj" fmla="val 6154"/>
            </a:avLst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0" y="160020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Americana Restaurants International PLC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0" y="196596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E7E5"/>
                </a:solidFill>
              </a:rPr>
              <a:t>ADX:AMR · Tadawul:6015 · ADGM-incorporated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224028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E7E5"/>
                </a:solidFill>
              </a:rPr>
              <a:t>8,424 Mn shares outstanding · ~$14bn market cap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2542032"/>
            <a:ext cx="6675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E7E5"/>
                </a:solidFill>
              </a:rPr>
              <a:t>⬇  Owned by: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80760" y="2697480"/>
            <a:ext cx="0" cy="32004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3017520"/>
            <a:ext cx="557784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3017520"/>
            <a:ext cx="0" cy="22860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69680" y="3017520"/>
            <a:ext cx="0" cy="22860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324612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3337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Adeptio AD Investments Ltd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37033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9E1F2"/>
                </a:solidFill>
              </a:rPr>
              <a:t>(via Adeptio AD Holdings Ltd)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71600" y="39319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10600"/>
                </a:solidFill>
              </a:rPr>
              <a:t>66.03%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71600" y="437083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E1F2"/>
                </a:solidFill>
              </a:rPr>
              <a:t>5,562 Mn shares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49440" y="3246120"/>
            <a:ext cx="3840480" cy="1463040"/>
          </a:xfrm>
          <a:prstGeom prst="roundRect">
            <a:avLst>
              <a:gd name="adj" fmla="val 5000"/>
            </a:avLst>
          </a:prstGeom>
          <a:solidFill>
            <a:srgbClr val="ECE7DA"/>
          </a:solidFill>
          <a:ln w="2540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3337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864"/>
                </a:solidFill>
              </a:rPr>
              <a:t>Public Free Float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49440" y="37033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Institutional + retail across ADX + Tadawul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49440" y="39319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864"/>
                </a:solidFill>
              </a:rPr>
              <a:t>33.97%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949440" y="437083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~2,836 Mn shares · includes 25 Mn treasury (LTIP)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4709160"/>
            <a:ext cx="0" cy="27432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54480" y="4983480"/>
            <a:ext cx="3474720" cy="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54480" y="4983480"/>
            <a:ext cx="0" cy="22860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0" y="4983480"/>
            <a:ext cx="0" cy="228600"/>
          </a:xfrm>
          <a:prstGeom prst="line">
            <a:avLst/>
          </a:prstGeom>
          <a:noFill/>
          <a:ln w="25400">
            <a:solidFill>
              <a:srgbClr val="1F386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5212080"/>
            <a:ext cx="21945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1F38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52852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Mohamed Alabbar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560527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Founder of Emaar Properties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58338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0600"/>
                </a:solidFill>
              </a:rPr>
              <a:t>50%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57200" y="614476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of Adeptio (~33% effective)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931920" y="5212080"/>
            <a:ext cx="21945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25400">
            <a:solidFill>
              <a:srgbClr val="1F38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31920" y="52852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Saudi PIF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931920" y="560527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via Saudi Co. for Gulf Food Investments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931920" y="58338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0600"/>
                </a:solidFill>
              </a:rPr>
              <a:t>50%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931920" y="614476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of Adeptio (~33% effective)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315200" y="5212080"/>
            <a:ext cx="4114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2E5A9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0" y="52578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E10600"/>
                </a:solidFill>
              </a:rPr>
              <a:t>FREE FLOAT — KEY POINTS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406640" y="55321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78% UAE-local · 22% GCC · &lt;0.1% foreign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97% institutional / 3% individual retail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No single non-Adeptio holder &gt;5%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6446520"/>
            <a:ext cx="11338560" cy="0"/>
          </a:xfrm>
          <a:prstGeom prst="rect">
            <a:avLst/>
          </a:prstGeom>
          <a:noFill/>
          <a:ln/>
        </p:spPr>
      </p:sp>
      <p:sp>
        <p:nvSpPr>
          <p:cNvPr id="42" name="Text 40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FY25 AR — Corporate Governance · UAE Prospectus 2022 (Adeptio Acquisition) · ADX/Tadawul shareholder register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11 brands — but 4 generate 94% of revenue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280160"/>
            <a:ext cx="114300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73152" cy="201168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POWER BRANDS · 94% of revenue · 89% of stores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2606040" cy="141732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83080"/>
            <a:ext cx="2606040" cy="9144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</a:rPr>
              <a:t>KFC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331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1,146 stores · 60% rev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6243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Since 1973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86207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Yum! / drive-thru-led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29000" y="1783080"/>
            <a:ext cx="2606040" cy="141732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1783080"/>
            <a:ext cx="2606040" cy="9144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1965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</a:rPr>
              <a:t>Hardee's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66160" y="2331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457 stores · 17%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66160" y="26243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Since 1980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160" y="286207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CKE Holdings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7920" y="1783080"/>
            <a:ext cx="2606040" cy="141732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1783080"/>
            <a:ext cx="2606040" cy="91440"/>
          </a:xfrm>
          <a:prstGeom prst="rect">
            <a:avLst/>
          </a:prstGeom>
          <a:solidFill>
            <a:srgbClr val="EE3124"/>
          </a:solidFill>
          <a:ln w="12700">
            <a:solidFill>
              <a:srgbClr val="EE31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1965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</a:rPr>
              <a:t>Pizza Hut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55080" y="2331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458 stores · 13%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26243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Since 1979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55080" y="286207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Yum! / delivery-heavy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06840" y="1783080"/>
            <a:ext cx="2606040" cy="141732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06840" y="1783080"/>
            <a:ext cx="2606040" cy="91440"/>
          </a:xfrm>
          <a:prstGeom prst="rect">
            <a:avLst/>
          </a:prstGeom>
          <a:solidFill>
            <a:srgbClr val="006633"/>
          </a:solidFill>
          <a:ln w="12700">
            <a:solidFill>
              <a:srgbClr val="0066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0" y="19659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864"/>
                </a:solidFill>
              </a:rPr>
              <a:t>Krispy Kreme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144000" y="2331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395 stores · 4%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0" y="26243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Since 2006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144000" y="286207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Indulgence master franchise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474720"/>
            <a:ext cx="114300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3474720"/>
            <a:ext cx="73152" cy="1828800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5661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5A97"/>
                </a:solidFill>
              </a:rPr>
              <a:t>OTHER FRANCHISES · 6% of revenue, broader portfolio appeal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3977640"/>
            <a:ext cx="1691640" cy="123444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" y="4069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TGI Fridays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49808" y="4389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43 stores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49808" y="463600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Since 1994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49808" y="48646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Casual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487168" y="3977640"/>
            <a:ext cx="1691640" cy="123444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96896" y="4069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Baskin Robbins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596896" y="4389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74 stores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596896" y="463600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Since 1986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596896" y="48646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Indulgence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334256" y="3977640"/>
            <a:ext cx="1691640" cy="123444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43984" y="4069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Costa Coffee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443984" y="4389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68 stores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443984" y="463600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Since 2004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443984" y="48646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EG/KZ/JO only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181344" y="3977640"/>
            <a:ext cx="1691640" cy="123444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91072" y="4069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Peet's Coffee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291072" y="4389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38 stores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291072" y="463600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Since 2022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91072" y="48646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New (UAE/KSA)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028432" y="3977640"/>
            <a:ext cx="1691640" cy="123444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138160" y="4069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carpo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138160" y="4389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— stores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138160" y="463600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Since 2025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138160" y="48646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Greek; launches 2026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9875520" y="3977640"/>
            <a:ext cx="1691640" cy="1234440"/>
          </a:xfrm>
          <a:prstGeom prst="rect">
            <a:avLst/>
          </a:prstGeom>
          <a:solidFill>
            <a:srgbClr val="FAFAF7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985248" y="406908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Malak Al Tawouk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9985248" y="43891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10 stores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9985248" y="463600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Since 2026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9985248" y="486460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</a:rPr>
              <a:t>75-yr license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65760" y="5440680"/>
            <a:ext cx="11430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65760" y="5440680"/>
            <a:ext cx="73152" cy="9144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0080" y="55321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FB950"/>
                </a:solidFill>
              </a:rPr>
              <a:t>PROPRIETARY BRANDS · Owned IP (no franchise fees)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40080" y="5852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Wimpy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(37 stores · since 1969 · KW/EG/UAE) — burger specialist; relaunch underway. </a:t>
            </a:r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Chicken Tikka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(30 stores · since 1971 · KW/EG/KSA/UAE) — Indian-inspired QSR.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Sources: FY25 AR p.20-28 · 4Q25 deck slide 28 · UAE Prospectus brand sections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12 countries · 2,741 restaurants (1Q26) — top 4 = 78% of base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pic>
        <p:nvPicPr>
          <p:cNvPr id="4" name="Image 0" descr="/sessions/zen-zealous-clarke/mnt/Claude_Filed--Americana Restaurants/Charts/Americana_Map_BasemapWithColo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1143000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32320" y="4389120"/>
            <a:ext cx="-2377440" cy="1143000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60520" y="5340096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60520" y="534009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Saudi Arabia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761 stores · $630m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0" y="4480560"/>
            <a:ext cx="2834640" cy="182880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469880" y="4471416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469880" y="447141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UAE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663 stores · $844m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486400" y="4297680"/>
            <a:ext cx="-2377440" cy="1234440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14600" y="5340096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14600" y="534009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Egypt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449 stores · $173m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726680" y="3886200"/>
            <a:ext cx="-2148840" cy="-2514600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983480" y="1179576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83480" y="117957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Kuwait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269 stores · $347m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10424160" y="2103120"/>
            <a:ext cx="640080" cy="-548640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469880" y="1362456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469880" y="13624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Kazakhstan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147 stores · $130m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046720" y="4160520"/>
            <a:ext cx="3017520" cy="-137160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469880" y="3831336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469880" y="38313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Qatar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109 stores · $110m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8732520" y="4663440"/>
            <a:ext cx="2331720" cy="731520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469880" y="5202936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469880" y="52029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Oman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99 stores · $80m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7909560" y="4041648"/>
            <a:ext cx="3154680" cy="-658368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469880" y="3191256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469880" y="31912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Bahrain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73 stores · $68m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960120" y="4160520"/>
            <a:ext cx="-228600" cy="1325880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37160" y="5294376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37160" y="529437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Morocco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56 stores · $50m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6537960" y="3977640"/>
            <a:ext cx="-2240280" cy="-2194560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703320" y="1591056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703320" y="15910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Jordan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56 stores · $45m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7086600" y="3611880"/>
            <a:ext cx="685800" cy="-2240280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178040" y="1179576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178040" y="117957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Iraq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42 stores · $35m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6355080" y="3840480"/>
            <a:ext cx="411480" cy="-2148840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172200" y="1499616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88888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172200" y="149961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Lebanon</a:t>
            </a:r>
            <a:endParaRPr lang="en-US" sz="8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17 stores · $28m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57200" y="576072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B7280"/>
                </a:solidFill>
              </a:rPr>
              <a:t>STORE COUNT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1920240" y="5760720"/>
            <a:ext cx="274320" cy="164592"/>
          </a:xfrm>
          <a:prstGeom prst="rect">
            <a:avLst/>
          </a:prstGeom>
          <a:solidFill>
            <a:srgbClr val="FCC9C8"/>
          </a:solidFill>
          <a:ln w="12700">
            <a:solidFill>
              <a:srgbClr val="FCC9C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194560" y="5760720"/>
            <a:ext cx="274320" cy="164592"/>
          </a:xfrm>
          <a:prstGeom prst="rect">
            <a:avLst/>
          </a:prstGeom>
          <a:solidFill>
            <a:srgbClr val="F58E8C"/>
          </a:solidFill>
          <a:ln w="12700">
            <a:solidFill>
              <a:srgbClr val="F58E8C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468880" y="5760720"/>
            <a:ext cx="274320" cy="164592"/>
          </a:xfrm>
          <a:prstGeom prst="rect">
            <a:avLst/>
          </a:prstGeom>
          <a:solidFill>
            <a:srgbClr val="E94340"/>
          </a:solidFill>
          <a:ln w="12700">
            <a:solidFill>
              <a:srgbClr val="E94340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2743200" y="5760720"/>
            <a:ext cx="274320" cy="16459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3017520" y="5760720"/>
            <a:ext cx="274320" cy="164592"/>
          </a:xfrm>
          <a:prstGeom prst="rect">
            <a:avLst/>
          </a:prstGeom>
          <a:solidFill>
            <a:srgbClr val="A8050A"/>
          </a:solidFill>
          <a:ln w="12700">
            <a:solidFill>
              <a:srgbClr val="A8050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783080" y="594360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280"/>
                </a:solidFill>
              </a:rPr>
              <a:t>Fewer (17)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2514600" y="594360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6B7280"/>
                </a:solidFill>
              </a:rPr>
              <a:t>More (761)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4572000" y="576072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E10600"/>
                </a:solidFill>
              </a:rPr>
              <a:t>12 </a:t>
            </a:r>
            <a:pPr algn="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countries  ·  </a:t>
            </a:r>
            <a:pPr algn="r" indent="0" marL="0">
              <a:buNone/>
            </a:pPr>
            <a:r>
              <a:rPr lang="en-US" sz="1800" b="1" dirty="0">
                <a:solidFill>
                  <a:srgbClr val="E10600"/>
                </a:solidFill>
              </a:rPr>
              <a:t>2,741 </a:t>
            </a:r>
            <a:pPr algn="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restaurants  ·  </a:t>
            </a:r>
            <a:pPr algn="r" indent="0" marL="0">
              <a:buNone/>
            </a:pPr>
            <a:r>
              <a:rPr lang="en-US" sz="1800" b="1" dirty="0">
                <a:solidFill>
                  <a:srgbClr val="E10600"/>
                </a:solidFill>
              </a:rPr>
              <a:t>$2.6bn </a:t>
            </a:r>
            <a:pPr algn="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LTM revenue  ·  </a:t>
            </a:r>
            <a:pPr algn="r" indent="0" marL="0">
              <a:buNone/>
            </a:pPr>
            <a:r>
              <a:rPr lang="en-US" sz="1800" b="1" dirty="0">
                <a:solidFill>
                  <a:srgbClr val="E10600"/>
                </a:solidFill>
              </a:rPr>
              <a:t>~39k </a:t>
            </a:r>
            <a:pPr algn="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employees</a:t>
            </a:r>
            <a:endParaRPr lang="en-US" sz="1800" dirty="0"/>
          </a:p>
        </p:txBody>
      </p:sp>
      <p:sp>
        <p:nvSpPr>
          <p:cNvPr id="50" name="Shape 47"/>
          <p:cNvSpPr/>
          <p:nvPr/>
        </p:nvSpPr>
        <p:spPr>
          <a:xfrm>
            <a:off x="365760" y="6199632"/>
            <a:ext cx="11430000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57200" y="619963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Stores by region (1Q26): KSA 761 · UAE 663 (incl. 7 MAT) · Kuwait 269 · Egypt 449 — top 4 markets = 78% of footprint.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Map © CartoDB / OpenStreetMap (basemap + country colors as single component) · Data: Americana 1Q26 deck p.21 · All labels editable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Country economics: revenue share vs. growth, risk lens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11475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1143000"/>
                <a:gridCol w="960120"/>
                <a:gridCol w="1874520"/>
                <a:gridCol w="1143000"/>
                <a:gridCol w="38862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Country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Stores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Revenue $m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Rev share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FX risk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Market share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Outlook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UAE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652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844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34%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USD peg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71%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Strong (tourism)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KSA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766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630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25%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USD peg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81%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Vision 2030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Kuwait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276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347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USD basket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65%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Mature, stable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Egypt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450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EGP −38% (Mar 24)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36%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Recovery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Kazakhstan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KZT volatile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Long runway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Qatar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USD peg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Mature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Oman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80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USD peg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PH Oman added FY25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Bahrain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USD peg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Mature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Jordan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USD peg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Stable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Morocco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50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MAD basket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Growing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Iraq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USD peg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Newest market (2023)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</a:rPr>
                        <a:t>Lebanon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Hyperinflation (IAS 29)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</a:rPr>
                        <a:t>Survival mode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6126480"/>
            <a:ext cx="11430000" cy="32004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83% of revenue in USD-pegged currencies. Egypt is the biggest non-pegged risk. Lebanon is small but hyperinflationary.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Sources: FY25 AR segment notes p.121 · UAE Prospectus market share p.56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Financial profile — margins, cash, capital return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365760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P&amp;L QUALITY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Revenue FY25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19202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$2,508.8m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4871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EBITDA margin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248716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23.7% (+170 bps)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05409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4-Wall EBITDA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305409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30.2% (+130 bps)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62102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Net income margin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3621024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8.7%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1879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LFL sales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0" y="418795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+9.7%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754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KFC share of rev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86000" y="47548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60%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297680" y="128016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7680" y="1280160"/>
            <a:ext cx="3657600" cy="457200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1371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BALANCE SHEET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8056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Net debt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19202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Zero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480560" y="24871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Liquidity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26480" y="248716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$299.6m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80560" y="305409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Total assets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305409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$1,734m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80560" y="362102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Equity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3621024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$490m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480560" y="41879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NWC / revenue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26480" y="418795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−9.9%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480560" y="4754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Investment-grade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26480" y="47548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Implied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138160" y="128016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38160" y="1280160"/>
            <a:ext cx="3657600" cy="45720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21040" y="13716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CASH &amp; CAPITAL RETURN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32104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FCF FY25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966960" y="192024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$209m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321040" y="24871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FCF conversion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966960" y="248716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58%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321040" y="305409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Capex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966960" y="3054096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$125m (5.0% rev)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321040" y="362102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FY25 dividend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966960" y="3621024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$201.6m (92% payout)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321040" y="41879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Stated div policy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966960" y="418795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~50% of NI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321040" y="4754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Payback / new store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966960" y="47548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&lt;3 years (KFC 2.3y)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57200" y="5623560"/>
            <a:ext cx="11247120" cy="7772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" y="56875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E1F2"/>
                </a:solidFill>
              </a:rPr>
              <a:t>KEY DEBATE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40080" y="592531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Is the 92% payout sustainable? Stated 50% policy was reset upward in FY25 reflecting zero debt + $300m liquidity + light capex needs. Watch for FY26 commentary.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FY25 Annual Report Financial Review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0F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Tax evolution — from near-zero to ~15% Pillar Two floor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80192" y="1828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1">
                <a:solidFill>
                  <a:srgbClr val="CBD3E0"/>
                </a:solidFill>
                <a:latin typeface="Calibri"/>
              </a:rPr>
              <a:t>Slide 10  /  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8368"/>
            <a:ext cx="116403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5F6B7E"/>
                </a:solidFill>
                <a:latin typeface="Calibri"/>
              </a:rPr>
              <a:t>How the introduction of UAE Corporate Tax (Jun 2023) and OECD Pillar Two DMTT (Jan 2025) stepped Americana's group ETR from ~3% to ~14% — with a ~15% steady-state floor ahead.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5943600" cy="347472"/>
          </a:xfrm>
          <a:prstGeom prst="rect">
            <a:avLst/>
          </a:prstGeom>
          <a:solidFill>
            <a:srgbClr val="2E5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106424"/>
            <a:ext cx="5760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STATUTORY RATE EVOLUTION  ·  12 markets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463039"/>
            <a:ext cx="1417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1A1F2C"/>
                </a:solidFill>
                <a:latin typeface="Calibri"/>
              </a:rPr>
              <a:t>Country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463039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1A1F2C"/>
                </a:solidFill>
                <a:latin typeface="Calibri"/>
              </a:rPr>
              <a:t>Pre-Jun 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463039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1A1F2C"/>
                </a:solidFill>
                <a:latin typeface="Calibri"/>
              </a:rPr>
              <a:t>Jun 2023 – 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1463039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 i="0">
                <a:solidFill>
                  <a:srgbClr val="1A1F2C"/>
                </a:solidFill>
                <a:latin typeface="Calibri"/>
              </a:rPr>
              <a:t>2025+ (Pillar Two)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" y="1773936"/>
            <a:ext cx="5852160" cy="0"/>
          </a:xfrm>
          <a:prstGeom prst="line">
            <a:avLst/>
          </a:prstGeom>
          <a:ln w="12700">
            <a:solidFill>
              <a:srgbClr val="D8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301751" y="1828800"/>
            <a:ext cx="5888736" cy="310896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1751" y="1828800"/>
            <a:ext cx="36576" cy="3108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84708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1A1F2C"/>
                </a:solidFill>
                <a:latin typeface="Calibri"/>
              </a:rPr>
              <a:t>UAE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43100" y="1865376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2F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43100" y="1865376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2F7A4A"/>
                </a:solidFill>
                <a:latin typeface="Calibri"/>
              </a:rPr>
              <a:t>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6139" y="1865376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4A8B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06139" y="1865376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4A8BC2"/>
                </a:solidFill>
                <a:latin typeface="Calibri"/>
              </a:rPr>
              <a:t>9%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69180" y="1865376"/>
            <a:ext cx="1234440" cy="256032"/>
          </a:xfrm>
          <a:prstGeom prst="rect">
            <a:avLst/>
          </a:prstGeom>
          <a:solidFill>
            <a:srgbClr val="C99A3A"/>
          </a:solidFill>
          <a:ln w="12700">
            <a:solidFill>
              <a:srgbClr val="C99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69180" y="1865376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15%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1" y="2157984"/>
            <a:ext cx="36576" cy="3108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217627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1A1F2C"/>
                </a:solidFill>
                <a:latin typeface="Calibri"/>
              </a:rPr>
              <a:t>Kuwait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43100" y="2194560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2F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43100" y="2194560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2F7A4A"/>
                </a:solidFill>
                <a:latin typeface="Calibri"/>
              </a:rPr>
              <a:t>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06139" y="2194560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2F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06139" y="2194560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2F7A4A"/>
                </a:solidFill>
                <a:latin typeface="Calibri"/>
              </a:rPr>
              <a:t>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69180" y="2194560"/>
            <a:ext cx="1234440" cy="256032"/>
          </a:xfrm>
          <a:prstGeom prst="rect">
            <a:avLst/>
          </a:prstGeom>
          <a:solidFill>
            <a:srgbClr val="C99A3A"/>
          </a:solidFill>
          <a:ln w="12700">
            <a:solidFill>
              <a:srgbClr val="C99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69180" y="2194560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15%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1751" y="2487168"/>
            <a:ext cx="5888736" cy="310896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1751" y="2487168"/>
            <a:ext cx="36576" cy="3108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50545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1A1F2C"/>
                </a:solidFill>
                <a:latin typeface="Calibri"/>
              </a:rPr>
              <a:t>Bahrain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43100" y="2523744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2F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43100" y="25237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2F7A4A"/>
                </a:solidFill>
                <a:latin typeface="Calibri"/>
              </a:rPr>
              <a:t>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06139" y="2523744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2F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06139" y="25237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2F7A4A"/>
                </a:solidFill>
                <a:latin typeface="Calibri"/>
              </a:rPr>
              <a:t>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69180" y="2523744"/>
            <a:ext cx="1234440" cy="256032"/>
          </a:xfrm>
          <a:prstGeom prst="rect">
            <a:avLst/>
          </a:prstGeom>
          <a:solidFill>
            <a:srgbClr val="C99A3A"/>
          </a:solidFill>
          <a:ln w="12700">
            <a:solidFill>
              <a:srgbClr val="C99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69180" y="2523744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15%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1751" y="2816352"/>
            <a:ext cx="36576" cy="3108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283464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1A1F2C"/>
                </a:solidFill>
                <a:latin typeface="Calibri"/>
              </a:rPr>
              <a:t>Qatar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43100" y="2852928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2F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43100" y="2852928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2F7A4A"/>
                </a:solidFill>
                <a:latin typeface="Calibri"/>
              </a:rPr>
              <a:t>10%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06139" y="2852928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2F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06139" y="2852928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2F7A4A"/>
                </a:solidFill>
                <a:latin typeface="Calibri"/>
              </a:rPr>
              <a:t>10%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69180" y="2852928"/>
            <a:ext cx="1234440" cy="256032"/>
          </a:xfrm>
          <a:prstGeom prst="rect">
            <a:avLst/>
          </a:prstGeom>
          <a:solidFill>
            <a:srgbClr val="C99A3A"/>
          </a:solidFill>
          <a:ln w="12700">
            <a:solidFill>
              <a:srgbClr val="C99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69180" y="2852928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15%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01751" y="3145536"/>
            <a:ext cx="5888736" cy="310896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16382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1A1F2C"/>
                </a:solidFill>
                <a:latin typeface="Calibri"/>
              </a:rPr>
              <a:t>Oman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43100" y="3182112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9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43100" y="3182112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C99A3A"/>
                </a:solidFill>
                <a:latin typeface="Calibri"/>
              </a:rPr>
              <a:t>15%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06139" y="3182112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9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06139" y="3182112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C99A3A"/>
                </a:solidFill>
                <a:latin typeface="Calibri"/>
              </a:rPr>
              <a:t>15%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869180" y="3182112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9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69180" y="3182112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C99A3A"/>
                </a:solidFill>
                <a:latin typeface="Calibri"/>
              </a:rPr>
              <a:t>15%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349300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1A1F2C"/>
                </a:solidFill>
                <a:latin typeface="Calibri"/>
              </a:rPr>
              <a:t>KSA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943100" y="3511296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2F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943100" y="3511296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2F7A4A"/>
                </a:solidFill>
                <a:latin typeface="Calibri"/>
              </a:rPr>
              <a:t>20% + 2.5% Zakat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406139" y="3511296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2F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06139" y="3511296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2F7A4A"/>
                </a:solidFill>
                <a:latin typeface="Calibri"/>
              </a:rPr>
              <a:t>20% + 2.5% Zakat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69180" y="3511296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2F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869180" y="3511296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2F7A4A"/>
                </a:solidFill>
                <a:latin typeface="Calibri"/>
              </a:rPr>
              <a:t>20% + 2.5% Zakat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01751" y="3803904"/>
            <a:ext cx="5888736" cy="310896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60" y="3822191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1A1F2C"/>
                </a:solidFill>
                <a:latin typeface="Calibri"/>
              </a:rPr>
              <a:t>Egypt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943100" y="3840479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943100" y="3840479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C0392B"/>
                </a:solidFill>
                <a:latin typeface="Calibri"/>
              </a:rPr>
              <a:t>22.5%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406139" y="3840479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406139" y="3840479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C0392B"/>
                </a:solidFill>
                <a:latin typeface="Calibri"/>
              </a:rPr>
              <a:t>22.5%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869180" y="3840479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869180" y="3840479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C0392B"/>
                </a:solidFill>
                <a:latin typeface="Calibri"/>
              </a:rPr>
              <a:t>22.5%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5760" y="4151376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1A1F2C"/>
                </a:solidFill>
                <a:latin typeface="Calibri"/>
              </a:rPr>
              <a:t>Jordan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943100" y="4169663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2F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943100" y="416966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2F7A4A"/>
                </a:solidFill>
                <a:latin typeface="Calibri"/>
              </a:rPr>
              <a:t>20%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406139" y="4169663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2F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406139" y="416966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2F7A4A"/>
                </a:solidFill>
                <a:latin typeface="Calibri"/>
              </a:rPr>
              <a:t>20%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869180" y="4169663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2F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869180" y="416966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2F7A4A"/>
                </a:solidFill>
                <a:latin typeface="Calibri"/>
              </a:rPr>
              <a:t>20%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01751" y="4462272"/>
            <a:ext cx="5888736" cy="310896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65760" y="448056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1A1F2C"/>
                </a:solidFill>
                <a:latin typeface="Calibri"/>
              </a:rPr>
              <a:t>Lebanon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943100" y="4498848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943100" y="4498848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C0392B"/>
                </a:solidFill>
                <a:latin typeface="Calibri"/>
              </a:rPr>
              <a:t>17%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406139" y="4498848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406139" y="4498848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C0392B"/>
                </a:solidFill>
                <a:latin typeface="Calibri"/>
              </a:rPr>
              <a:t>17%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869180" y="4498848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869180" y="4498848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C0392B"/>
                </a:solidFill>
                <a:latin typeface="Calibri"/>
              </a:rPr>
              <a:t>17%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65760" y="480974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1A1F2C"/>
                </a:solidFill>
                <a:latin typeface="Calibri"/>
              </a:rPr>
              <a:t>Iraq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943100" y="4828031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9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943100" y="4828031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C99A3A"/>
                </a:solidFill>
                <a:latin typeface="Calibri"/>
              </a:rPr>
              <a:t>15%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406139" y="4828031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9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406139" y="4828031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C99A3A"/>
                </a:solidFill>
                <a:latin typeface="Calibri"/>
              </a:rPr>
              <a:t>15%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869180" y="4828031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99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869180" y="4828031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C99A3A"/>
                </a:solidFill>
                <a:latin typeface="Calibri"/>
              </a:rPr>
              <a:t>15%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01751" y="5120640"/>
            <a:ext cx="5888736" cy="310896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65760" y="5138927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1A1F2C"/>
                </a:solidFill>
                <a:latin typeface="Calibri"/>
              </a:rPr>
              <a:t>Morocco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943100" y="5157215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2F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943100" y="515721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2F7A4A"/>
                </a:solidFill>
                <a:latin typeface="Calibri"/>
              </a:rPr>
              <a:t>20% – 31%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406139" y="5157215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2F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406139" y="515721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2F7A4A"/>
                </a:solidFill>
                <a:latin typeface="Calibri"/>
              </a:rPr>
              <a:t>20% – 31%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869180" y="5157215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2F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869180" y="5157215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2F7A4A"/>
                </a:solidFill>
                <a:latin typeface="Calibri"/>
              </a:rPr>
              <a:t>20% – 31%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65760" y="546811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1A1F2C"/>
                </a:solidFill>
                <a:latin typeface="Calibri"/>
              </a:rPr>
              <a:t>Kazakhstan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943100" y="5486400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2F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943100" y="5486400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2F7A4A"/>
                </a:solidFill>
                <a:latin typeface="Calibri"/>
              </a:rPr>
              <a:t>20%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406139" y="5486400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2F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406139" y="5486400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2F7A4A"/>
                </a:solidFill>
                <a:latin typeface="Calibri"/>
              </a:rPr>
              <a:t>20%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869180" y="5486400"/>
            <a:ext cx="1234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2F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869180" y="5486400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2F7A4A"/>
                </a:solidFill>
                <a:latin typeface="Calibri"/>
              </a:rPr>
              <a:t>20%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65760" y="588873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5F6B7E"/>
                </a:solidFill>
                <a:latin typeface="Calibri"/>
              </a:rPr>
              <a:t>Rate band: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51560" y="5925312"/>
            <a:ext cx="109728" cy="109728"/>
          </a:xfrm>
          <a:prstGeom prst="rect">
            <a:avLst/>
          </a:prstGeom>
          <a:solidFill>
            <a:srgbClr val="2F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88719" y="58887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1A1F2C"/>
                </a:solidFill>
                <a:latin typeface="Calibri"/>
              </a:rPr>
              <a:t>0%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148839" y="5925312"/>
            <a:ext cx="109728" cy="109728"/>
          </a:xfrm>
          <a:prstGeom prst="rect">
            <a:avLst/>
          </a:prstGeom>
          <a:solidFill>
            <a:srgbClr val="4A8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285999" y="58887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1A1F2C"/>
                </a:solidFill>
                <a:latin typeface="Calibri"/>
              </a:rPr>
              <a:t>9–10%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246120" y="5925312"/>
            <a:ext cx="109728" cy="109728"/>
          </a:xfrm>
          <a:prstGeom prst="rect">
            <a:avLst/>
          </a:prstGeom>
          <a:solidFill>
            <a:srgbClr val="C9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383279" y="58887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1A1F2C"/>
                </a:solidFill>
                <a:latin typeface="Calibri"/>
              </a:rPr>
              <a:t>15% (DMTT)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343400" y="5925312"/>
            <a:ext cx="109728" cy="1097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480560" y="58887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0">
                <a:solidFill>
                  <a:srgbClr val="1A1F2C"/>
                </a:solidFill>
                <a:latin typeface="Calibri"/>
              </a:rPr>
              <a:t>20%+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65760" y="6144768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 i="1">
                <a:solidFill>
                  <a:srgbClr val="C0392B"/>
                </a:solidFill>
                <a:latin typeface="Calibri"/>
              </a:rPr>
              <a:t>Red left-edge stripe = Pillar Two-impacted jurisdiction (5 of 12 markets)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400800" y="1051560"/>
            <a:ext cx="5532120" cy="347472"/>
          </a:xfrm>
          <a:prstGeom prst="rect">
            <a:avLst/>
          </a:prstGeom>
          <a:solidFill>
            <a:srgbClr val="2E5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510528" y="1106424"/>
            <a:ext cx="5349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GROUP EFFECTIVE TAX RATE  ·  FY22 → Q1 26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355080" y="3081528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750" b="0" i="0">
                <a:solidFill>
                  <a:srgbClr val="5F6B7E"/>
                </a:solidFill>
                <a:latin typeface="Calibri"/>
              </a:rPr>
              <a:t>0%</a:t>
            </a:r>
          </a:p>
        </p:txBody>
      </p:sp>
      <p:cxnSp>
        <p:nvCxnSpPr>
          <p:cNvPr id="120" name="Connector 119"/>
          <p:cNvCxnSpPr/>
          <p:nvPr/>
        </p:nvCxnSpPr>
        <p:spPr>
          <a:xfrm>
            <a:off x="6675120" y="3154680"/>
            <a:ext cx="4983480" cy="0"/>
          </a:xfrm>
          <a:prstGeom prst="line">
            <a:avLst/>
          </a:prstGeom>
          <a:ln w="5080">
            <a:solidFill>
              <a:srgbClr val="D8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6355080" y="2637028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750" b="0" i="0">
                <a:solidFill>
                  <a:srgbClr val="5F6B7E"/>
                </a:solidFill>
                <a:latin typeface="Calibri"/>
              </a:rPr>
              <a:t>5%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6675120" y="2710180"/>
            <a:ext cx="4983480" cy="0"/>
          </a:xfrm>
          <a:prstGeom prst="line">
            <a:avLst/>
          </a:prstGeom>
          <a:ln w="5080">
            <a:solidFill>
              <a:srgbClr val="D8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6355080" y="2192528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750" b="0" i="0">
                <a:solidFill>
                  <a:srgbClr val="5F6B7E"/>
                </a:solidFill>
                <a:latin typeface="Calibri"/>
              </a:rPr>
              <a:t>10%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6675120" y="2265680"/>
            <a:ext cx="4983480" cy="0"/>
          </a:xfrm>
          <a:prstGeom prst="line">
            <a:avLst/>
          </a:prstGeom>
          <a:ln w="5080">
            <a:solidFill>
              <a:srgbClr val="D8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6355080" y="1748028"/>
            <a:ext cx="274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750" b="0" i="0">
                <a:solidFill>
                  <a:srgbClr val="5F6B7E"/>
                </a:solidFill>
                <a:latin typeface="Calibri"/>
              </a:rPr>
              <a:t>15%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6675120" y="1821180"/>
            <a:ext cx="4983480" cy="0"/>
          </a:xfrm>
          <a:prstGeom prst="line">
            <a:avLst/>
          </a:prstGeom>
          <a:ln w="5080">
            <a:solidFill>
              <a:srgbClr val="D8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6675120" y="1821180"/>
            <a:ext cx="4983480" cy="0"/>
          </a:xfrm>
          <a:prstGeom prst="line">
            <a:avLst/>
          </a:prstGeom>
          <a:ln w="19050">
            <a:solidFill>
              <a:srgbClr val="C99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/>
          <p:cNvSpPr txBox="1"/>
          <p:nvPr/>
        </p:nvSpPr>
        <p:spPr>
          <a:xfrm>
            <a:off x="10287000" y="1592580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750" b="1" i="1">
                <a:solidFill>
                  <a:srgbClr val="C99A3A"/>
                </a:solidFill>
                <a:latin typeface="Calibri"/>
              </a:rPr>
              <a:t>15% Pillar Two floor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6922007" y="2870200"/>
            <a:ext cx="502920" cy="284479"/>
          </a:xfrm>
          <a:prstGeom prst="rect">
            <a:avLst/>
          </a:prstGeom>
          <a:solidFill>
            <a:srgbClr val="2F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739127" y="2669032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2F7A4A"/>
                </a:solidFill>
                <a:latin typeface="Calibri"/>
              </a:rPr>
              <a:t>3.2%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716268" y="3182112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1A1F2C"/>
                </a:solidFill>
                <a:latin typeface="Calibri"/>
              </a:rPr>
              <a:t>FY22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579107" y="3355848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0" i="1">
                <a:solidFill>
                  <a:srgbClr val="5F6B7E"/>
                </a:solidFill>
                <a:latin typeface="Calibri"/>
              </a:rPr>
              <a:t>Pre-UAE CT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918704" y="2736850"/>
            <a:ext cx="502920" cy="417829"/>
          </a:xfrm>
          <a:prstGeom prst="rect">
            <a:avLst/>
          </a:prstGeom>
          <a:solidFill>
            <a:srgbClr val="2F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735824" y="2535682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2F7A4A"/>
                </a:solidFill>
                <a:latin typeface="Calibri"/>
              </a:rPr>
              <a:t>4.7%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712964" y="3182112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1A1F2C"/>
                </a:solidFill>
                <a:latin typeface="Calibri"/>
              </a:rPr>
              <a:t>FY23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575804" y="3355848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0" i="1">
                <a:solidFill>
                  <a:srgbClr val="5F6B7E"/>
                </a:solidFill>
                <a:latin typeface="Calibri"/>
              </a:rPr>
              <a:t>UAE CT (Jun)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915400" y="2087880"/>
            <a:ext cx="502920" cy="1066799"/>
          </a:xfrm>
          <a:prstGeom prst="rect">
            <a:avLst/>
          </a:prstGeom>
          <a:solidFill>
            <a:srgbClr val="4A8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8732520" y="1886712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4A8BC2"/>
                </a:solidFill>
                <a:latin typeface="Calibri"/>
              </a:rPr>
              <a:t>12.0%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709660" y="3182112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1A1F2C"/>
                </a:solidFill>
                <a:latin typeface="Calibri"/>
              </a:rPr>
              <a:t>FY24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572500" y="3355848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0" i="1">
                <a:solidFill>
                  <a:srgbClr val="5F6B7E"/>
                </a:solidFill>
                <a:latin typeface="Calibri"/>
              </a:rPr>
              <a:t>Full UAE CT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912096" y="1910080"/>
            <a:ext cx="502920" cy="1244600"/>
          </a:xfrm>
          <a:prstGeom prst="rect">
            <a:avLst/>
          </a:prstGeom>
          <a:solidFill>
            <a:srgbClr val="4A8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729216" y="1708912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4A8BC2"/>
                </a:solidFill>
                <a:latin typeface="Calibri"/>
              </a:rPr>
              <a:t>14.0%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9706356" y="3182112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1A1F2C"/>
                </a:solidFill>
                <a:latin typeface="Calibri"/>
              </a:rPr>
              <a:t>FY25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569196" y="3355848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0" i="1">
                <a:solidFill>
                  <a:srgbClr val="5F6B7E"/>
                </a:solidFill>
                <a:latin typeface="Calibri"/>
              </a:rPr>
              <a:t>+ DMTT $14m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908792" y="1936750"/>
            <a:ext cx="502920" cy="1217930"/>
          </a:xfrm>
          <a:prstGeom prst="rect">
            <a:avLst/>
          </a:prstGeom>
          <a:solidFill>
            <a:srgbClr val="C9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0725912" y="1735582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C99A3A"/>
                </a:solidFill>
                <a:latin typeface="Calibri"/>
              </a:rPr>
              <a:t>13.7%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703052" y="3182112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 i="0">
                <a:solidFill>
                  <a:srgbClr val="1A1F2C"/>
                </a:solidFill>
                <a:latin typeface="Calibri"/>
              </a:rPr>
              <a:t>Q1 26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565892" y="3355848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0" i="1">
                <a:solidFill>
                  <a:srgbClr val="5F6B7E"/>
                </a:solidFill>
                <a:latin typeface="Calibri"/>
              </a:rPr>
              <a:t>Run-rate</a:t>
            </a:r>
          </a:p>
        </p:txBody>
      </p:sp>
      <p:cxnSp>
        <p:nvCxnSpPr>
          <p:cNvPr id="149" name="Connector 148"/>
          <p:cNvCxnSpPr/>
          <p:nvPr/>
        </p:nvCxnSpPr>
        <p:spPr>
          <a:xfrm>
            <a:off x="6675120" y="3154680"/>
            <a:ext cx="4983480" cy="0"/>
          </a:xfrm>
          <a:prstGeom prst="line">
            <a:avLst/>
          </a:prstGeom>
          <a:ln w="12700">
            <a:solidFill>
              <a:srgbClr val="1A1F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Rectangle 149"/>
          <p:cNvSpPr/>
          <p:nvPr/>
        </p:nvSpPr>
        <p:spPr>
          <a:xfrm>
            <a:off x="6400800" y="3474720"/>
            <a:ext cx="5532120" cy="347472"/>
          </a:xfrm>
          <a:prstGeom prst="rect">
            <a:avLst/>
          </a:prstGeom>
          <a:solidFill>
            <a:srgbClr val="2E5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510528" y="3529584"/>
            <a:ext cx="5349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FORWARD-LOOKING IMPACT  ·  what to model from FY26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510528" y="3986783"/>
            <a:ext cx="91440" cy="914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675120" y="3931920"/>
            <a:ext cx="51663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1A1F2C"/>
                </a:solidFill>
                <a:latin typeface="Calibri"/>
              </a:rPr>
              <a:t>Steady-state ETR: ~15%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675120" y="4133087"/>
            <a:ext cx="5166359" cy="251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5F6B7E"/>
                </a:solidFill>
                <a:latin typeface="Calibri"/>
              </a:rPr>
              <a:t>Pillar Two DMTT floor in UAE + KW + BH + QA (now all 15%) — applies from 1 Jan 2025 on jurisdictional basis.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6510528" y="4466844"/>
            <a:ext cx="91440" cy="914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675120" y="4411980"/>
            <a:ext cx="51663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1A1F2C"/>
                </a:solidFill>
                <a:latin typeface="Calibri"/>
              </a:rPr>
              <a:t>Tax expense run-rate: ~$40m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675120" y="4613148"/>
            <a:ext cx="5166359" cy="251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5F6B7E"/>
                </a:solidFill>
                <a:latin typeface="Calibri"/>
              </a:rPr>
              <a:t>FY25 tax = $35.7m incl. $14.0m DMTT (first-year). Annualised Q1 26 run-rate ≈ $40m on similar PBT trajectory.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510528" y="4946903"/>
            <a:ext cx="91440" cy="914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6675120" y="4892040"/>
            <a:ext cx="51663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1A1F2C"/>
                </a:solidFill>
                <a:latin typeface="Calibri"/>
              </a:rPr>
              <a:t>Stable-pegged exposure: 83% of rev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675120" y="5093207"/>
            <a:ext cx="5166359" cy="251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5F6B7E"/>
                </a:solidFill>
                <a:latin typeface="Calibri"/>
              </a:rPr>
              <a:t>Revenue from KSA/UAE/KW/QA/BH/OM/JO — all in Pillar Two scope or already taxed; minimal pass-through to ETR from FX moves.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510528" y="5426964"/>
            <a:ext cx="91440" cy="914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675120" y="5372100"/>
            <a:ext cx="51663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1A1F2C"/>
                </a:solidFill>
                <a:latin typeface="Calibri"/>
              </a:rPr>
              <a:t>Mitigation: limited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675120" y="5573268"/>
            <a:ext cx="5166359" cy="251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5F6B7E"/>
                </a:solidFill>
                <a:latin typeface="Calibri"/>
              </a:rPr>
              <a:t>FY25 reconciliation shows $94m 'income not subject to tax' (holdco structure) — but DMTT is a top-up tax, so this benefit will shrink as Pillar Two activates.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274320" y="6492240"/>
            <a:ext cx="116403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 i="1">
                <a:solidFill>
                  <a:srgbClr val="5F6B7E"/>
                </a:solidFill>
                <a:latin typeface="Calibri"/>
              </a:rPr>
              <a:t>Sources: FY25 AR Note 28 'Income Tax and Zakat' (DMTT $14.04m, ETR 14% vs FY24 11%) · FY24 AR Note 30 · FY23 AR Note 30 (ETR 4% vs FY22 3%) · Q1 26 IP appendix tax reconciliation · OECD Pillar Two Model Rules (GloBE). All shapes editable.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Quarterly trajectory — boycott trough to recovery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777240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503920" y="1280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KEY MILESTONES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503920" y="16002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1Q23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235440" y="16002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First full quarter as public co. Smooth print.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503920" y="21945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4Q23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235440" y="21945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Gaza boycott begins (Oct 7); early hit visible.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503920" y="2788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1Q24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235440" y="278892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TROUGH. Rev −16% YoY. NI −51% to $28m.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503920" y="33832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3Q24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235440" y="338328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First sequential improvement; mgmt 'worst behind us.'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8503920" y="3977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1Q25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235440" y="39776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Inflection: LFL +10%, EBITDA margin re-expands.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503920" y="45720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FY25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235440" y="457200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Full recovery. +14% rev, +38% NI, $209m FCF.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503920" y="51663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1Q26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235440" y="51663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Continued momentum: +13% rev, +94% NI.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7200" y="5440680"/>
            <a:ext cx="113385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54864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</a:rPr>
              <a:t>Like-for-like sales (% YoY)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4864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1Q23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4864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+4%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41732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2Q23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41732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+3%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228600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3Q23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228600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+2%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315468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4Q23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15468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-3%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02336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1Q24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02336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-18%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89204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2Q24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89204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-12%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76072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3Q24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76072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-7%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62940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4Q24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62940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-1%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749808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1Q25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749808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+10%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836676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2Q25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836676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+8%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923544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3Q25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923544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+10%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1010412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4Q25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010412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+11%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10972800" y="57607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1Q26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972800" y="5943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+7%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Quarterly earnings releases 2023-2026 · 1Q26 release May 5, 2026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Channel mix shift: delivery + kiosks doubling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FY25 CHANNEL SPLIT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600200"/>
          <a:ext cx="50292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852160" y="12801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EVOLUTION 2019 → 2025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852160" y="1691640"/>
            <a:ext cx="5943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0" y="1737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Home delivery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38160" y="17373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</a:rPr>
              <a:t>30%  →  48%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0" y="201168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COVID-accelerated, now structural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52160" y="2468880"/>
            <a:ext cx="5943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0" y="25146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Kiosks (self-order)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138160" y="25146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</a:rPr>
              <a:t>~0%  →  15%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43600" y="278892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Doubled YoY; 2,700+ deployed FY25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852160" y="3246120"/>
            <a:ext cx="5943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0" y="3291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Dine-in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138160" y="32918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n/a  →  17%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943600" y="356616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Declined relative share post-COVID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852160" y="4023360"/>
            <a:ext cx="5943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0" y="4069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Drive-thru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38160" y="4069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n/a  →  8%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943600" y="434340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Critical for KFC (most KFC locations)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852160" y="4800600"/>
            <a:ext cx="59436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1F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0" y="4846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Own-delivery vs aggregator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138160" y="48463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</a:rPr>
              <a:t>n/a  →  81%/19%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943600" y="512064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Own 7,800-driver fleet; aggregators for acquisition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5760" y="5897880"/>
            <a:ext cx="11430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589788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Important: delivery aggregators (Talabat, Jahez, HungerStation, Deliveroo) are channels not threats — Americana uses them for new-customer acquisition, fulfils 81% on own fleet.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Americana FY25 AR p.30 · UAE Prospectus p.51 channel mix history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Group structure: how 20+ subsidiaries become one number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FY25 actual flow — from local restaurant operating companies up to consolidated shareholder profit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17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THE STRUCTURE — 3 LAYERS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188720" y="1783080"/>
            <a:ext cx="41148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8288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Americana Restaurants International PLC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21488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9E1F2"/>
                </a:solidFill>
              </a:rPr>
              <a:t>Listed entity · ADGM (UAE) · ADX:AMR / Tadawul:6015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88720" y="23774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FE7E5"/>
                </a:solidFill>
              </a:rPr>
              <a:t>WHAT YOU OWN AS A SHAREHOLDER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46120" y="2651760"/>
            <a:ext cx="0" cy="27432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971800"/>
            <a:ext cx="5029200" cy="685800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017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 UAE Holding Companies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291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9E1F2"/>
                </a:solidFill>
              </a:rPr>
              <a:t>Americana Holding for KSA / UAE / Egypt / etc — paperwork only, no operations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46120" y="3703320"/>
            <a:ext cx="0" cy="27432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4023360"/>
            <a:ext cx="128016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106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023360"/>
            <a:ext cx="1280160" cy="292608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4164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MAJOR GCC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3434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$1,821m rev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" y="4617720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Al Ahlia (KSA)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93776" y="4873752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Kuwait Food Co (UAE)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93776" y="5129784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Americana KW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783080" y="4023360"/>
            <a:ext cx="128016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83080" y="4023360"/>
            <a:ext cx="1280160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83080" y="404164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LOWER GULF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783080" y="43434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$258m rev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19656" y="4617720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Qataria Food (QA)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819656" y="4873752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Intl Tourism (OM)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819656" y="5129784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Bahrain/KW (BH)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108960" y="4023360"/>
            <a:ext cx="128016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5A9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08960" y="4023360"/>
            <a:ext cx="1280160" cy="292608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0" y="404164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N. AFRICA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108960" y="43434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$223m rev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145536" y="4617720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Egyptian Intl (EG)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145536" y="4873752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Soc. Marocaine (MA)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434840" y="4023360"/>
            <a:ext cx="128016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6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34840" y="4023360"/>
            <a:ext cx="1280160" cy="292608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34840" y="404164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OTHERS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434840" y="43434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$238m rev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471416" y="4617720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Caspian (KZ)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471416" y="4873752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AFK American (IQ)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471416" y="5129784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Lebanese (LB)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471416" y="5385816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A1A1A"/>
                </a:solidFill>
              </a:rPr>
              <a:t>Jordanian (JO)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57200" y="5852160"/>
            <a:ext cx="5349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6B7280"/>
                </a:solidFill>
              </a:rPr>
              <a:t>~20 OPERATING SUBSIDIARIES across 12 COUNTRIES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17920" y="14173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HOW THE MATH ROLLS UP — FY25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17920" y="1783080"/>
            <a:ext cx="55778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55080" y="185623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3864"/>
                </a:solidFill>
              </a:rPr>
              <a:t>REVENUE WATERFALL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355080" y="2194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Sum of all subsidiary revenues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195560" y="21945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$2,540.7m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355080" y="2606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Less: intra-group sales eliminated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195560" y="26060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85149"/>
                </a:solidFill>
              </a:rPr>
              <a:t>($31.9m)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355080" y="3017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Group consolidated revenue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195560" y="3017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$2,508.8m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217920" y="3840480"/>
            <a:ext cx="55778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55080" y="3913632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3864"/>
                </a:solidFill>
              </a:rPr>
              <a:t>PROFIT WATERFALL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355080" y="4251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Sum of subsidiary net profits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0195560" y="42519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$255.4m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355080" y="45811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Less: central costs, FX, hyperinflation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0195560" y="458114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85149"/>
                </a:solidFill>
              </a:rPr>
              <a:t>($36.9m)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355080" y="49103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Total group net profit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10195560" y="49103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$218.5m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6355080" y="52395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Add: minority interest loss (Jordan etc.)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10195560" y="52395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+$0.6m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6355080" y="55686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Attributable to AMR shareholders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10195560" y="556869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FB950"/>
                </a:solidFill>
              </a:rPr>
              <a:t>$219.1m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457200" y="6172200"/>
            <a:ext cx="11338560" cy="274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57200" y="617220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Major GCC alone (KSA + UAE + KW) produces 98% of net profit. Minority interests in Jordan + Bahrain take a small cut. 14% effective tax rate.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FY25 Annual Report Note 29 (Subsidiaries) + Note 5 (Segment Reporting) + Note 8 (Tax)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Group structure detail: 23 subsidiaries with ownership (post-MAT UAE)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Full 3-layer hierarchy from listed PLC down to country operating entities · Includes MAT UAE consolidation per 1Q26 deck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1508760"/>
            <a:ext cx="5760720" cy="384048"/>
          </a:xfrm>
          <a:prstGeom prst="roundRect">
            <a:avLst>
              <a:gd name="adj" fmla="val 11905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150876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Americana Restaurants International PLC (Parent)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80760" y="1892808"/>
            <a:ext cx="0" cy="210312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23360" y="2103120"/>
            <a:ext cx="4114800" cy="347472"/>
          </a:xfrm>
          <a:prstGeom prst="roundRect">
            <a:avLst>
              <a:gd name="adj" fmla="val 13158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0" y="2103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 UAE Holding Companies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2450592"/>
            <a:ext cx="0" cy="201168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2651760"/>
            <a:ext cx="548640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2651760"/>
            <a:ext cx="0" cy="18288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23960" y="2651760"/>
            <a:ext cx="0" cy="18288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80160" y="2834640"/>
            <a:ext cx="4114800" cy="347472"/>
          </a:xfrm>
          <a:prstGeom prst="roundRect">
            <a:avLst>
              <a:gd name="adj" fmla="val 13158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80160" y="28346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21 Operating Subsidiaries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2834640"/>
            <a:ext cx="4114800" cy="347472"/>
          </a:xfrm>
          <a:prstGeom prst="roundRect">
            <a:avLst>
              <a:gd name="adj" fmla="val 13158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28346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 non-restaurant subsidiaries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37560" y="3182112"/>
            <a:ext cx="0" cy="201168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3383280"/>
            <a:ext cx="493776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3383280"/>
            <a:ext cx="0" cy="18288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56616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566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 Major GCC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97280" y="3931920"/>
            <a:ext cx="0" cy="109728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" y="409651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80160" y="40233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Saudi Arabia (2)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80160" y="420624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3FB950"/>
                </a:solidFill>
              </a:rPr>
              <a:t>all 100%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097280" y="450799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80160" y="44348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UAE (3)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280160" y="461772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FF6600"/>
                </a:solidFill>
              </a:rPr>
              <a:t>75%, 100%×2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097280" y="491947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80160" y="4846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Kuwait (1)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280160" y="502920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3FB950"/>
                </a:solidFill>
              </a:rPr>
              <a:t>100%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377440" y="3383280"/>
            <a:ext cx="0" cy="18288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783080" y="356616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783080" y="3566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 Lower Gulf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377440" y="3931920"/>
            <a:ext cx="0" cy="109728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377440" y="409651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60320" y="40233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Qatar (2)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560320" y="420624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FF6600"/>
                </a:solidFill>
              </a:rPr>
              <a:t>99% &amp; 100%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377440" y="450799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0320" y="44348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Oman (2)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560320" y="461772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3FB950"/>
                </a:solidFill>
              </a:rPr>
              <a:t>all 100%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377440" y="491947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60320" y="4846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Bahrain (2)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560320" y="502920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E10600"/>
                </a:solidFill>
              </a:rPr>
              <a:t>40% &amp; 94%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657600" y="3383280"/>
            <a:ext cx="0" cy="18288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063240" y="356616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63240" y="3566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 North Africa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657600" y="3931920"/>
            <a:ext cx="0" cy="68580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57600" y="409651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40480" y="40233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Egypt (2)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840480" y="420624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3FB950"/>
                </a:solidFill>
              </a:rPr>
              <a:t>99.9% &amp; 100%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657600" y="450799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40480" y="44348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Morocco (1)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3840480" y="461772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3FB950"/>
                </a:solidFill>
              </a:rPr>
              <a:t>100%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937760" y="3383280"/>
            <a:ext cx="0" cy="18288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343400" y="3566160"/>
            <a:ext cx="1188720" cy="365760"/>
          </a:xfrm>
          <a:prstGeom prst="roundRect">
            <a:avLst>
              <a:gd name="adj" fmla="val 12500"/>
            </a:avLst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43400" y="35661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 Others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937760" y="3931920"/>
            <a:ext cx="0" cy="150876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937760" y="409651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120640" y="402336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Iraq (2)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120640" y="420624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3FB950"/>
                </a:solidFill>
              </a:rPr>
              <a:t>all 100%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937760" y="450799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120640" y="44348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Jordan (2)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120640" y="461772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E10600"/>
                </a:solidFill>
              </a:rPr>
              <a:t>both 67%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937760" y="491947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120640" y="484632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Kazakhstan (1)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120640" y="502920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3FB950"/>
                </a:solidFill>
              </a:rPr>
              <a:t>100%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937760" y="5330952"/>
            <a:ext cx="164592" cy="0"/>
          </a:xfrm>
          <a:prstGeom prst="line">
            <a:avLst/>
          </a:prstGeom>
          <a:noFill/>
          <a:ln w="9525">
            <a:solidFill>
              <a:srgbClr val="2E5A9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20640" y="52578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</a:rPr>
              <a:t>Lebanon (1)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120640" y="544068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3FB950"/>
                </a:solidFill>
              </a:rPr>
              <a:t>100%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8823960" y="3182112"/>
            <a:ext cx="0" cy="201168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680960" y="3383280"/>
            <a:ext cx="2286000" cy="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680960" y="3383280"/>
            <a:ext cx="0" cy="18288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966960" y="3383280"/>
            <a:ext cx="0" cy="182880"/>
          </a:xfrm>
          <a:prstGeom prst="line">
            <a:avLst/>
          </a:prstGeom>
          <a:noFill/>
          <a:ln w="19050">
            <a:solidFill>
              <a:srgbClr val="1F386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995160" y="356616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995160" y="3566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United Food Co.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9281160" y="3566160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281160" y="3566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Americana (India)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6995160" y="39776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KSA — Sub-OpCo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6995160" y="41605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</a:rPr>
              <a:t>100%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9281160" y="39776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G&amp;A offshoring centre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9281160" y="416052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FB950"/>
                </a:solidFill>
              </a:rPr>
              <a:t>100%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457200" y="589788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B7280"/>
                </a:solidFill>
              </a:rPr>
              <a:t>OWNERSHIP COLOR LEGEND: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2743200" y="589788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950"/>
                </a:solidFill>
              </a:rPr>
              <a:t>● 100% wholly owned</a:t>
            </a:r>
            <a:pPr indent="0" marL="0">
              <a:buNone/>
            </a:pPr>
            <a:r>
              <a:rPr lang="en-US" sz="900" b="1" dirty="0">
                <a:solidFill>
                  <a:srgbClr val="FF6600"/>
                </a:solidFill>
              </a:rPr>
              <a:t>    ● 75-99% (small local partner)</a:t>
            </a:r>
            <a:pPr indent="0" marL="0">
              <a:buNone/>
            </a:pPr>
            <a:r>
              <a:rPr lang="en-US" sz="900" b="1" dirty="0">
                <a:solidFill>
                  <a:srgbClr val="E10600"/>
                </a:solidFill>
              </a:rPr>
              <a:t>    ● &lt;75% (significant minority)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57200" y="6199632"/>
            <a:ext cx="11338560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57200" y="6199632"/>
            <a:ext cx="11338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Post-FY25 update: MAT UAE consolidated (Feb 2026) — adds 1 UAE subsidiary, brings Major GCC to 6 operating subs. Key minorities: Jordan 67% · Bahrain 40% · UAE 75%.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FY25 AR Note 29 (Subsidiaries), pp. 220-223 · 1Q26 investor presentation p.7 (MAT UAE consolidation)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9E1F2"/>
                </a:solidFill>
              </a:rPr>
              <a:t>PART II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The industry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9E1F2"/>
                </a:solidFill>
              </a:rPr>
              <a:t>MENA foodservice market — size, drivers, structure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1005840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89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1F2"/>
                </a:solidFill>
              </a:rPr>
              <a:t>Sourced from Mordor Intelligence · USDA FAS · Alpen Capital · Euromonitor (via Americana UAE Prospectus 2022)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MENA / GCC foodservice market — sizing and growth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3657600" cy="2468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E1F2"/>
                </a:solidFill>
              </a:rPr>
              <a:t>GCC FOODSERVICE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$62.2 bn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1F2"/>
                </a:solidFill>
              </a:rPr>
              <a:t>2025 base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→ $122.2 bn by 2031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10600"/>
                </a:solidFill>
              </a:rPr>
              <a:t>12.1% CAGR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9E1F2"/>
                </a:solidFill>
              </a:rPr>
              <a:t>Source: Mordor Intelligence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89120" y="1280160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280160"/>
            <a:ext cx="73152" cy="109728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53712" y="13350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Saudi Arabia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53712" y="160934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$30.1 bn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26480" y="160934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10600"/>
                </a:solidFill>
              </a:rPr>
              <a:t>8.1% CAGR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53712" y="19842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$48.1 bn by '31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0" y="1280160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1280160"/>
            <a:ext cx="73152" cy="10972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94192" y="13350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UAE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94192" y="160934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$23.2 bn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966960" y="160934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FB950"/>
                </a:solidFill>
              </a:rPr>
              <a:t>17.6% CAGR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94192" y="19842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$61.2 bn by '31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389120" y="2560320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0" y="2560320"/>
            <a:ext cx="73152" cy="1097280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53712" y="26151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Egypt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53712" y="288950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$10.4 bn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126480" y="288950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E5A97"/>
                </a:solidFill>
              </a:rPr>
              <a:t>14.3% CAGR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53712" y="32644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$23.1 bn by '31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229600" y="2560320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2560320"/>
            <a:ext cx="73152" cy="109728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94192" y="26151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</a:rPr>
              <a:t>Kuwait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94192" y="288950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$3.5 bn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966960" y="288950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6600"/>
                </a:solidFill>
              </a:rPr>
              <a:t>8.1% CAGR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94192" y="32644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$5.6 bn by '31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931920"/>
            <a:ext cx="113385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023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SOURCE RECONCILIATION — these numbers don't always agree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43708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KSA: Mordor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12080" y="437083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$30.1 bn (2025)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498080" y="437083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Tight alignment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" y="46451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KSA: USDA FAS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12080" y="46451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$30 bn (2024)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498080" y="464515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High confidence consensus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0080" y="49194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UAE: Mordor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212080" y="49194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$23.2 bn (2025)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498080" y="491947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Includes cloud kitchens, broader scope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0080" y="519379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UAE: USDA FAS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212080" y="51937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$18.6 bn (2024)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498080" y="519379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Use $18-23bn range; ~$5bn scope gap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40080" y="546811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Americana's 12-country OOHD (Euromonitor)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212080" y="54681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$56 bn (2021)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498080" y="546811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Older; ~$72-80bn by '25 at 14% CAGR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40080" y="574243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Alpen Capital — GCC food consumption (volume)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212080" y="574243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50.9 mn MT (2024)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498080" y="574243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→ 55.5 mn MT '29 at 1.7% CAGR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" y="6080760"/>
            <a:ext cx="1133856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60807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UAE is the fastest-growing GCC market per Mordor (17.6% CAGR) — Americana has 24% of stores and 34% of revenue there.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Sources: Mordor Intelligence (May 2026 previews) · USDA FAS HRI Annual reports · Alpen Capital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Structural demand drivers — which are real?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00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DEMOGRAPHICS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0" y="123444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STRUCTURAL 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270m+ population in Americana's footprint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55% under age 30 (vs 37% developed)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Population CAGR 1.4% (vs 0.5% developed)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Rising female workforce (KSA 36% vs 15% a decade ago)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72200" y="118872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188720"/>
            <a:ext cx="5486400" cy="384048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2344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MACRO / TOURISM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12680" y="123444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STRUCTURAL 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55080" y="169164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GDP CAGR 6.8% USD (vs 4.5% developed)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Vision 2030: KSA targeting 150m+ tourists by 2030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Dubai 14.8m visitors (2023), 16m forecast 2024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Mega-projects: NEOM, Qiddiya, Red Sea, Diriyah, Ras El-Hekma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56616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566160"/>
            <a:ext cx="5486400" cy="384048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6118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CHANNEL SHIFT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97680" y="36118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STRUCTURAL 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406908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Delivery 30% (2019) → 48% (FY25) — and rising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Kiosks went 0 → 15% of sales in 5 years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Online food delivery KSA: $8.5bn (2024) → $12bn (2030)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Cloud kitchens fastest growing GCC sub-segment (13.2% CAGR)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56616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3566160"/>
            <a:ext cx="5486400" cy="38404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36118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PENETRATION GAP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12680" y="361188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STRUCTURAL 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55080" y="406908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Restaurants per 10k pop: 3x lower vs developed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Chained QSR per 10k: 8x lower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KFC per 10k: 1/3 of US, 1/6 of Malaysia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Massive whitespace at current density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5989320"/>
            <a:ext cx="11338560" cy="4572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989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HEADWINDS: Boycott exposure (US brands); Egypt FX (EGP −38% 2024); Pillar II tax (UAE 9% → 15%, KW/BH 0% → 15%); rising labour &amp; rent costs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Sources: UAE Prospectus p.56 (Euromonitor) · Mordor previews · USDA FAS · PWC consumer report (cited in FY25 AR)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</a:rPr>
              <a:t>Competitive landscape — who else is in Americana's markets?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0"/>
            <a:ext cx="37033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370332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618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LOCAL CHAINS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AlBaik (KSA)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Iconic Saudi fried chicken; 150 stores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24963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Maestro Pizza (KSA)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77063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170 outlets; competes with PH/Domino's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320954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Kudu (KSA)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483864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350+ branches; sandwich QSR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392277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Apparel Group (UAE)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197096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Multi-brand operator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463600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Al Khaja (UAE)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91032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0.5% UAE market share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06240" y="1188720"/>
            <a:ext cx="37033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06240" y="1188720"/>
            <a:ext cx="3703320" cy="45720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3400" y="12618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GLOBAL QSR (via OTHER franchisees)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43400" y="17830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McDonald's (Alyousef / KMR)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43400" y="20574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2.4% UAE share; #2 chain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343400" y="24963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RBI: BK, Tims, Popeyes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43400" y="277063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Various franchisees; 1.6% UAE share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43400" y="320954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Subway (Doctor's Assoc.)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43400" y="3483864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1.1% UAE share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343400" y="392277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Starbucks (Alshaya)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43400" y="4197096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1.2% UAE share; coffee leader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343400" y="463600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Shake Shack (Alshaya)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43400" y="491032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Premium burger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343400" y="53492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P.F. Chang's, Cheesecake, Chipotle (Alshaya)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343400" y="562356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Casual / fast-casual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046720" y="1188720"/>
            <a:ext cx="37033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46720" y="1188720"/>
            <a:ext cx="3703320" cy="457200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83880" y="12618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DELIVERY AGGREGATORS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183880" y="17830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Talabat (Delivery Hero)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183880" y="205740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Largest MENA aggregator; DFM-listed Dec '24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183880" y="24963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HungerStation (DHER)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183880" y="277063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KSA market leader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183880" y="3209544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Jahez (Tadawul: 6017)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183880" y="3483864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KSA-listed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183880" y="392277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Deliveroo (LSE: ROO)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183880" y="4197096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UAE/KW/BH/QA premium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183880" y="463600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Careem Eats (Uber)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183880" y="491032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UAE/KSA/EG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183880" y="534924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</a:rPr>
              <a:t>Glovo, Yango, Akelni, Mrsool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183880" y="5623560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</a:rPr>
              <a:t>Smaller markets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65760" y="6126480"/>
            <a:ext cx="1143000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UAE is the most competitive market — top 5 chains = only 9.3% combined. Americana's 71% serviced-segment share is in a narrower 'chained international QSR' subset.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Sources: USDA UAE HRI TC2024-0012 (top-10 chain market share table) · USDA Saudi SA2025-0019 (local chains)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9E1F2"/>
                </a:solidFill>
              </a:rPr>
              <a:t>PART III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Peers &amp; valuation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9E1F2"/>
                </a:solidFill>
              </a:rPr>
              <a:t>Where Americana trades vs MENA, India QSR, and global benchmarks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4160520"/>
            <a:ext cx="1005840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89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E1F2"/>
                </a:solidFill>
              </a:rPr>
              <a:t>Multiples as of mid-May 2026 from public aggregators (stockanalysis.com, SEC, Macrotrends, GuruFocus).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Peer set — why these names, and not others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00" cy="4114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MENA-LISTED (LIMITED UNIVERSE)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Herfy Food Services (6002) — Saudi QSR, smaller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Almarai (2280) — Saudi F&amp;B (dairy-led, larger)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CATRION Catering (6004) — airline F&amp;B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Jahez (6017) — Saudi delivery platform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Delivery Hero (DHER) — Talabat parent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72200" y="118872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188720"/>
            <a:ext cx="5486400" cy="41148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2344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INDIA QSR — CLOSEST FUNCTIONAL ANALOGS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55080" y="169164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Jubilant FoodWorks (JUBLFOOD) — Domino's India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Devyani Intl (DEVYANI) — KFC + PH India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Sapphire Foods (SAPPHIRE) — KFC + PH India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Westlife Foodworld (WESTLIFE) — McDonald's India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Restaurant Brands Asia (RBA) — BK India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657600"/>
            <a:ext cx="5486400" cy="411480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7033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GLOBAL EM QSR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16052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Yum China (YUMC) — KFC+PH master franchisee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Jollibee (JFC) — Philippines multi-brand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Mitra Adi Perkasa (MAPI) — Indonesia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72200" y="365760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3657600"/>
            <a:ext cx="5486400" cy="411480"/>
          </a:xfrm>
          <a:prstGeom prst="rect">
            <a:avLst/>
          </a:prstGeom>
          <a:solidFill>
            <a:srgbClr val="FF660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37033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GLOBAL QSR BENCHMARKS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4160520"/>
            <a:ext cx="5212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Yum! Brands (YUM) — Americana's largest franchisor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McDonald's (MCD) — multiple benchmark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Restaurant Brands Intl (QSR) — BK/Tims/Popeyes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Domino's Pizza (DPZ) — pizza category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Starbucks (SBUX) — coffee benchmark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6080760"/>
            <a:ext cx="1133856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INDIA QSR is the closest functional comp: same multi-brand EM franchisee model, same Yum brands (Devyani, Sapphire).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See Excel workbook: Peer Universe tab for full descriptions and rationale per name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Valuation: AMR sits between MENA and India QSR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114757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645920"/>
                <a:gridCol w="1371600"/>
                <a:gridCol w="1645920"/>
                <a:gridCol w="1737360"/>
                <a:gridCol w="1508760"/>
              </a:tblGrid>
              <a:tr h="2423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Company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Mkt cap ($m)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P/E LTM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EV/EBITDA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EBITDA margin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Div yield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</a:rPr>
                        <a:t>Americana (AMR)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</a:rPr>
                        <a:t>14,010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</a:rPr>
                        <a:t>63.9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</a:rPr>
                        <a:t>23.0x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</a:rPr>
                        <a:t>23.7%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</a:rPr>
                        <a:t>4.0%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</a:tr>
              <a:tr h="242316">
                <a:tc gridSpan="6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i="1" dirty="0">
                          <a:solidFill>
                            <a:srgbClr val="E10600"/>
                          </a:solidFill>
                        </a:rPr>
                        <a:t>— MENA peers 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Almarai (2280)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11,429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12.0x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23.5%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2.5%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CATRION (6004)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1,510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18.1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n/a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22.9%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4.5%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Herfy (6002)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265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n/m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n/m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neg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 gridSpan="6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i="1" dirty="0">
                          <a:solidFill>
                            <a:srgbClr val="E10600"/>
                          </a:solidFill>
                        </a:rPr>
                        <a:t>— India QSR 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Jubilant (JUBLFOOD)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4,320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119.0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35.0x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20.9%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0.5%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Devyani (DEVYANI)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1,640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n/m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28.0x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23.3%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Westlife (WESTLIFE)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1,500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n/m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30.0x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16.7%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 gridSpan="6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i="1" dirty="0">
                          <a:solidFill>
                            <a:srgbClr val="E10600"/>
                          </a:solidFill>
                        </a:rPr>
                        <a:t>— Asia / global EM 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Yum China (YUMC)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16,620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22.5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9.2x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15.8%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2.5%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Jollibee (JFC)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4,000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12.0x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13.2%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1.5%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  <a:tr h="242316">
                <a:tc gridSpan="6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i="1" dirty="0">
                          <a:solidFill>
                            <a:srgbClr val="E10600"/>
                          </a:solidFill>
                        </a:rPr>
                        <a:t>— Global QSR 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Yum! (YUM)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41,300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28.1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20.5x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31.8%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1.8%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McDonald's (MCD)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217,290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23.0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17.5x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49.0%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</a:rPr>
                        <a:t>Domino's (DPZ)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12,310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20.8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17.1x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21.4%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</a:rPr>
                        <a:t>1.5%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7D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AMR trades at ~63x LTM P/E (high) but FY25 base is depressed; on forward P/E (~25x) AMR is in line with global QSR, below India QSR.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stockanalysis.com / SEC EDGAR / Macrotrends / GuruFocus, mid-May 2026; see Excel Valuation Comp tab for full table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</a:rPr>
              <a:t>Stock price: $0.82 IPO → $1.18 ATH → $0.42 ATL → $0.50 today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7772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503920" y="1280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10600"/>
                </a:solidFill>
              </a:rPr>
              <a:t>KEY PRICE EVENTS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503920" y="16002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Dec '22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326880" y="16002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</a:rPr>
              <a:t>IPO at AED 2.62 / SAR 2.68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503920" y="21031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Sep '23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326880" y="21031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ATH AED 4.54 (~$1.18) on margin expansion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503920" y="26060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Oct '23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326880" y="2606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5149"/>
                </a:solidFill>
              </a:rPr>
              <a:t>Gaza war → boycott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503920" y="31089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FY24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326880" y="31089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5149"/>
                </a:solidFill>
              </a:rPr>
              <a:t>−45% over the year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503920" y="36118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Jan '26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326880" y="36118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85149"/>
                </a:solidFill>
              </a:rPr>
              <a:t>ATL AED 1.55 (~$0.42)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503920" y="4114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Feb '26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326880" y="41148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</a:rPr>
              <a:t>+15% on FY25 results + MAT deal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503920" y="46177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</a:rPr>
              <a:t>Today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326880" y="46177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3864"/>
                </a:solidFill>
              </a:rPr>
              <a:t>Stable $0.50; consolidating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5760720"/>
            <a:ext cx="1133856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8640" y="58521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FUNGIBILITY: ADX and Tadawul listings are same ISIN, transfers via Edaa. AED and SAR both pegged to USD, so prices track in lockstep — Tadawul tends to have deeper liquidity.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Yahoo Finance (6015.SR full history) · stockanalysis.com (AMR spot points)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Bull vs Bear — the key debates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5532120" cy="4663440"/>
          </a:xfrm>
          <a:prstGeom prst="rect">
            <a:avLst/>
          </a:prstGeom>
          <a:solidFill>
            <a:srgbClr val="FFFFFF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5532120" cy="4572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80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</a:rPr>
              <a:t>BULL CASE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Recovery validated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FY25 LFL +9.7%, EBITDA margin +170bps, FCF tripled.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35000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Long runway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62432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Penetration 3-8x below developed; KFC alone 1/6 of Malaysia.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91693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Capital returns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191256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92% payout in FY25 vs 50% policy. Zero debt + $300m cash.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48386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M&amp;A optionality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758184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MAT (75-yr license), carpo, PH Oman — bolt-on capability.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405079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Aligned ownership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325112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PIF + Alabbar = Vision 2030 alignment + real estate access.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46177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Operating leverage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89204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120-130 net new stores guided for FY26; double-digit EBITDA growth.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518464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Pricing power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45896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Yum Co-op + own SuperApp + dynamic pricing engine.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63640" y="1188720"/>
            <a:ext cx="5532120" cy="4663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8514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1188720"/>
            <a:ext cx="5532120" cy="457200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1280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</a:rPr>
              <a:t>BEAR CASE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46520" y="17830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Boycott recurrence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46520" y="205740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Yum brands at risk of geopolitical events; −16% rev in 1Q24.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46520" y="235000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Egypt FX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46520" y="262432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EGP devalued 38% Mar '24. Hyperinflation in Lebanon. KZ volatile.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46520" y="291693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Tax headwinds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46520" y="3191256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Pillar II: UAE 9→15%, KW/BH 0→15%, QA 10→15% — ~$14m FY25 drag.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46520" y="348386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Brand concentration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46520" y="3758184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60% revenue from KFC alone — single-brand risk significant.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46520" y="405079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Premium multiple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46520" y="4325112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P/E 64x LTM is high vs MENA peers; forward narrative dependent.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46520" y="46177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Saudi competition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46520" y="4892040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Local chains (AlBaik, Maestro) gaining; cloud kitchens disrupting.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46520" y="518464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5149"/>
                </a:solidFill>
              </a:rPr>
              <a:t>Payout sustainability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46520" y="545896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</a:rPr>
              <a:t>FY25 92% payout vs 50% policy may not be repeatable indefinitely.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5989320"/>
            <a:ext cx="1133856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598932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Mgmt guides FY26: mid-SD LFL · 120-130 net new stores · double-digit EBITDA &amp; NI growth · capex 5-6% of revenue.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Sources: FY25 Annual Report · 1Q26 release commentary · MS Initiation Jan 2023 (framework reference)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What an analyst should watch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0600"/>
                </a:solidFill>
              </a:rPr>
              <a:t>THE 7 THINGS THAT WILL MOVE THE STOCK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1338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54864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7373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LFL growth trajectory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34840" y="17373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Mid-SD guided FY26. Each 100bps of LFL = ~$25m revenue. Quarterly check.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258568"/>
            <a:ext cx="11338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258568"/>
            <a:ext cx="54864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5856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23042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Geopolitical / boycott risk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34840" y="230428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Any escalation in Israel-Gaza-Iran impacts US-brand QSR sentiment regionally.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825496"/>
            <a:ext cx="11338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825496"/>
            <a:ext cx="54864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82549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287121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M&amp;A cadence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34840" y="2871216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MAT, carpo, PH Oman set the playbook. Look for 1-2 new bolt-ons / year.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392424"/>
            <a:ext cx="11338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392424"/>
            <a:ext cx="54864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39242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88720" y="343814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Dividend policy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34840" y="3438144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FY25 92% payout vs 50% policy. Will mgmt formally raise the policy?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959352"/>
            <a:ext cx="11338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959352"/>
            <a:ext cx="54864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9593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88720" y="400507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Vision 2030 / tourism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434840" y="4005072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Saudi mega-projects opening — Diriyah, Qiddiya, Red Sea — restaurant white space.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526280"/>
            <a:ext cx="11338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526280"/>
            <a:ext cx="54864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5262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88720" y="4572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Egypt + FX recovery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434840" y="45720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EGP stability; volume recovery in 450-store Egypt market.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5093208"/>
            <a:ext cx="11338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5093208"/>
            <a:ext cx="54864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509320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188720" y="513892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</a:rPr>
              <a:t>Capital Markets Day 17 Apr 2026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434840" y="5138928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Already held — re-read transcript for medium-term targets.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7200" y="5715000"/>
            <a:ext cx="11338560" cy="5943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5760720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E1F2"/>
                </a:solidFill>
              </a:rPr>
              <a:t>UPCOMING CATALYSTS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080" y="598932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FY26 quarterly results (Aug '26 H1, Nov '26 9M) · Annual dividend in Apr '26 · Any new MENA franchise win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Sources: Americana FY25 AR · Capital Markets Day 17 Apr 2026 · 1Q26 release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</a:rPr>
              <a:t>Where to dig deeper — your reference library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0"/>
            <a:ext cx="37033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370332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618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PRIMARY DOCS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FY25 Annual Report (the master doc)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UAE Prospectus Nov 2022 (296 pp; gold for industry)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KSA Supplement Prospectus Oct 2022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Quarterly Earnings Presentations (4Q25, 1Q26)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Earnings releases — every quarter since 1Q23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Bloomberg earnings call transcripts (12 quarters)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Perplexity AI transcripts (5 most recent calls)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06240" y="1188720"/>
            <a:ext cx="37033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0" y="1188720"/>
            <a:ext cx="3703320" cy="45720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2618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INDUSTRY RESEARCH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0" y="178308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Mordor Intelligence — GCC, KSA, UAE, Egypt, Kuwait (5 reports, public previews saved)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USDA FAS HRI Annuals — Saudi 2025, UAE 2024, Egypt 2024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Alpen Capital — GCC Food Industry Report 2025 (free w/ form)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Euromonitor (via Americana DRHP; full reports paywalled)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188720"/>
            <a:ext cx="370332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188720"/>
            <a:ext cx="3703320" cy="457200"/>
          </a:xfrm>
          <a:prstGeom prst="rect">
            <a:avLst/>
          </a:prstGeom>
          <a:solidFill>
            <a:srgbClr val="2E5A97"/>
          </a:solidFill>
          <a:ln w="12700">
            <a:solidFill>
              <a:srgbClr val="2E5A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83880" y="126187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ANALYTICAL TOOLS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0" y="1783080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Americana_Primer.html — interactive primer (timeline, brands, stock chart)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Americana_Industry_Peers_v2.xlsx — 14-sheet peer comp + industry data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Charts/ — 4 high-res world maps (PNG, 300dpi)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Morgan Stanley Initiation (Jan 2023, 97pp)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Morgan Stanley Model (288917.6015.SE.XLSX)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</a:rPr>
              <a:t>Yahoo Finance 6015.SR (live price data)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5897880"/>
            <a:ext cx="11430000" cy="5486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94360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E1F2"/>
                </a:solidFill>
              </a:rPr>
              <a:t>THE STARTING PROMPT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61722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If you're picking this up fresh: paste the structured ramp-up prompt (saved in conversation history) into a new session to skip rebuild work.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864"/>
                </a:solidFill>
              </a:rPr>
              <a:t>Shareholding pattern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</a:rPr>
              <a:t>Cap table summary — FY25 year-end · 8.42 bn ordinary shares · No single non-Adeptio holder &gt;5%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47120" cy="27432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pic>
        <p:nvPicPr>
          <p:cNvPr id="5" name="Image 0" descr="/sessions/zen-zealous-clarke/mnt/Claude_Filed--Americana Restaurants/Charts/Shareholding/V4_NoSource_ForD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00200"/>
            <a:ext cx="1033272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64465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Americana FY25 AR — share register + Corporate Governance · UAE Prospectus 2022 (Adeptio structure)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70432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9E1F2"/>
                </a:solidFill>
              </a:rPr>
              <a:t>END OF DECK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Americana Restaurants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9E1F2"/>
                </a:solidFill>
              </a:rPr>
              <a:t>Analyst Onboarding · Reference Pack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108960"/>
            <a:ext cx="10515600" cy="868680"/>
          </a:xfrm>
          <a:prstGeom prst="rect">
            <a:avLst/>
          </a:prstGeom>
          <a:solidFill>
            <a:srgbClr val="13284A"/>
          </a:solidFill>
          <a:ln w="12700">
            <a:solidFill>
              <a:srgbClr val="1328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108960"/>
            <a:ext cx="73152" cy="86868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18211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E1F2"/>
                </a:solidFill>
              </a:rPr>
              <a:t>WHAT THIS 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343814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 standalone learning pack covering Americana from first principles. Use it as a refresher or as briefing material to share with colleagues new to the name.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069080"/>
            <a:ext cx="10515600" cy="868680"/>
          </a:xfrm>
          <a:prstGeom prst="rect">
            <a:avLst/>
          </a:prstGeom>
          <a:solidFill>
            <a:srgbClr val="13284A"/>
          </a:solidFill>
          <a:ln w="12700">
            <a:solidFill>
              <a:srgbClr val="1328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4069080"/>
            <a:ext cx="73152" cy="86868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414223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E1F2"/>
                </a:solidFill>
              </a:rPr>
              <a:t>WHAT IT COVERS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439826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Company history &amp; ownership · 11-brand portfolio · 12-country footprint · group structure · FY25 financial profile · MENA QSR industry sizing · structural drivers · 18-name peer comp · bull/bear case · watchlist.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5029200"/>
            <a:ext cx="10515600" cy="868680"/>
          </a:xfrm>
          <a:prstGeom prst="rect">
            <a:avLst/>
          </a:prstGeom>
          <a:solidFill>
            <a:srgbClr val="13284A"/>
          </a:solidFill>
          <a:ln w="12700">
            <a:solidFill>
              <a:srgbClr val="1328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5029200"/>
            <a:ext cx="73152" cy="868680"/>
          </a:xfrm>
          <a:prstGeom prst="rect">
            <a:avLst/>
          </a:prstGeom>
          <a:solidFill>
            <a:srgbClr val="E10600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5102352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E1F2"/>
                </a:solidFill>
              </a:rPr>
              <a:t>WHAT'S NOT HERE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535838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Detailed DCF · earnings model · downside scenario quants · investment recommendation. See the Excel workbook for tabular peer comp; see Morgan Stanley initiation + model for valuation framework.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3284A"/>
          </a:solidFill>
          <a:ln w="12700">
            <a:solidFill>
              <a:srgbClr val="1328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6355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E1F2"/>
                </a:solidFill>
              </a:rPr>
              <a:t>Prepared May 19, 2026 · ADX:AMR · Tadawul:6015 · All data sourced from Americana FY25 AR, UAE Prospectus, Mordor, USDA FAS, Alpen Capital, Bloomberg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F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54864"/>
            <a:ext cx="116403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Americana Restaurants  —  detailed 60-year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71632" y="146304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i="1">
                <a:solidFill>
                  <a:srgbClr val="CBD3E0"/>
                </a:solidFill>
                <a:latin typeface="Calibri"/>
              </a:rPr>
              <a:t>Slide 5  /  Timeline (detail)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02920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1">
                <a:solidFill>
                  <a:srgbClr val="5F6B7E"/>
                </a:solidFill>
                <a:latin typeface="Calibri"/>
              </a:rPr>
              <a:t>Brands · year axis with corporate milestones · brand-level country expansion · country entries · macro context backdrop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502920"/>
            <a:ext cx="118872" cy="11887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48272" y="466344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1A1F2C"/>
                </a:solidFill>
                <a:latin typeface="Calibri"/>
              </a:rPr>
              <a:t>Power brand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502920"/>
            <a:ext cx="118872" cy="118872"/>
          </a:xfrm>
          <a:prstGeom prst="rect">
            <a:avLst/>
          </a:prstGeom>
          <a:solidFill>
            <a:srgbClr val="2E5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28431" y="466344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1A1F2C"/>
                </a:solidFill>
                <a:latin typeface="Calibri"/>
              </a:rPr>
              <a:t>Other brand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502920"/>
            <a:ext cx="118872" cy="118872"/>
          </a:xfrm>
          <a:prstGeom prst="rect">
            <a:avLst/>
          </a:prstGeom>
          <a:solidFill>
            <a:srgbClr val="6E4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08592" y="466344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1A1F2C"/>
                </a:solidFill>
                <a:latin typeface="Calibri"/>
              </a:rPr>
              <a:t>Brand expansion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24160" y="502920"/>
            <a:ext cx="118872" cy="118872"/>
          </a:xfrm>
          <a:prstGeom prst="rect">
            <a:avLst/>
          </a:prstGeom>
          <a:solidFill>
            <a:srgbClr val="2F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88752" y="466344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1A1F2C"/>
                </a:solidFill>
                <a:latin typeface="Calibri"/>
              </a:rPr>
              <a:t>Country (dated)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704320" y="502920"/>
            <a:ext cx="118872" cy="118872"/>
          </a:xfrm>
          <a:prstGeom prst="rect">
            <a:avLst/>
          </a:prstGeom>
          <a:solidFill>
            <a:srgbClr val="6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68912" y="466344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1A1F2C"/>
                </a:solidFill>
                <a:latin typeface="Calibri"/>
              </a:rPr>
              <a:t>Country (est.)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822959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1" i="0">
                <a:solidFill>
                  <a:srgbClr val="5F6B7E"/>
                </a:solidFill>
                <a:latin typeface="Calibri"/>
              </a:rPr>
              <a:t>MACRO / REGIONAL CONTEXT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87696" y="914400"/>
            <a:ext cx="435863" cy="201167"/>
          </a:xfrm>
          <a:prstGeom prst="rect">
            <a:avLst/>
          </a:prstGeom>
          <a:solidFill>
            <a:srgbClr val="EEE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7696" y="932688"/>
            <a:ext cx="435863" cy="1828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750" b="1" i="1">
                <a:solidFill>
                  <a:srgbClr val="9C6F2D"/>
                </a:solidFill>
                <a:latin typeface="Calibri"/>
              </a:rPr>
              <a:t>Gulf War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233416" y="1161288"/>
            <a:ext cx="0" cy="1856232"/>
          </a:xfrm>
          <a:prstGeom prst="line">
            <a:avLst/>
          </a:prstGeom>
          <a:ln w="6350">
            <a:solidFill>
              <a:srgbClr val="EEE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577840" y="1161288"/>
            <a:ext cx="0" cy="1856232"/>
          </a:xfrm>
          <a:prstGeom prst="line">
            <a:avLst/>
          </a:prstGeom>
          <a:ln w="6350">
            <a:solidFill>
              <a:srgbClr val="EEE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426451" y="914400"/>
            <a:ext cx="263652" cy="201167"/>
          </a:xfrm>
          <a:prstGeom prst="rect">
            <a:avLst/>
          </a:prstGeom>
          <a:solidFill>
            <a:srgbClr val="EEE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26451" y="932688"/>
            <a:ext cx="263652" cy="1828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750" b="1" i="1">
                <a:solidFill>
                  <a:srgbClr val="9C6F2D"/>
                </a:solidFill>
                <a:latin typeface="Calibri"/>
              </a:rPr>
              <a:t>Iraq War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472172" y="1161288"/>
            <a:ext cx="0" cy="1856232"/>
          </a:xfrm>
          <a:prstGeom prst="line">
            <a:avLst/>
          </a:prstGeom>
          <a:ln w="6350">
            <a:solidFill>
              <a:srgbClr val="EEE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44384" y="1161288"/>
            <a:ext cx="0" cy="1856232"/>
          </a:xfrm>
          <a:prstGeom prst="line">
            <a:avLst/>
          </a:prstGeom>
          <a:ln w="6350">
            <a:solidFill>
              <a:srgbClr val="EEE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287512" y="914400"/>
            <a:ext cx="435863" cy="201167"/>
          </a:xfrm>
          <a:prstGeom prst="rect">
            <a:avLst/>
          </a:prstGeom>
          <a:solidFill>
            <a:srgbClr val="EEE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7512" y="932688"/>
            <a:ext cx="435863" cy="1828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750" b="1" i="1">
                <a:solidFill>
                  <a:srgbClr val="9C6F2D"/>
                </a:solidFill>
                <a:latin typeface="Calibri"/>
              </a:rPr>
              <a:t>Global Fin. Crisis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333232" y="1161288"/>
            <a:ext cx="0" cy="1856232"/>
          </a:xfrm>
          <a:prstGeom prst="line">
            <a:avLst/>
          </a:prstGeom>
          <a:ln w="6350">
            <a:solidFill>
              <a:srgbClr val="EEE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677656" y="1161288"/>
            <a:ext cx="0" cy="1856232"/>
          </a:xfrm>
          <a:prstGeom prst="line">
            <a:avLst/>
          </a:prstGeom>
          <a:ln w="6350">
            <a:solidFill>
              <a:srgbClr val="EEE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8804148" y="914400"/>
            <a:ext cx="435863" cy="201167"/>
          </a:xfrm>
          <a:prstGeom prst="rect">
            <a:avLst/>
          </a:prstGeom>
          <a:solidFill>
            <a:srgbClr val="EEE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04148" y="932688"/>
            <a:ext cx="435863" cy="1828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750" b="1" i="1">
                <a:solidFill>
                  <a:srgbClr val="9C6F2D"/>
                </a:solidFill>
                <a:latin typeface="Calibri"/>
              </a:rPr>
              <a:t>Arab Spring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849868" y="1161288"/>
            <a:ext cx="0" cy="1856232"/>
          </a:xfrm>
          <a:prstGeom prst="line">
            <a:avLst/>
          </a:prstGeom>
          <a:ln w="6350">
            <a:solidFill>
              <a:srgbClr val="EEE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194292" y="1161288"/>
            <a:ext cx="0" cy="1856232"/>
          </a:xfrm>
          <a:prstGeom prst="line">
            <a:avLst/>
          </a:prstGeom>
          <a:ln w="6350">
            <a:solidFill>
              <a:srgbClr val="EEE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10354056" y="914400"/>
            <a:ext cx="435864" cy="201167"/>
          </a:xfrm>
          <a:prstGeom prst="rect">
            <a:avLst/>
          </a:prstGeom>
          <a:solidFill>
            <a:srgbClr val="EEE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54056" y="932688"/>
            <a:ext cx="435864" cy="1828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750" b="1" i="1">
                <a:solidFill>
                  <a:srgbClr val="9C6F2D"/>
                </a:solidFill>
                <a:latin typeface="Calibri"/>
              </a:rPr>
              <a:t>COVID-19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399776" y="1161288"/>
            <a:ext cx="0" cy="1856232"/>
          </a:xfrm>
          <a:prstGeom prst="line">
            <a:avLst/>
          </a:prstGeom>
          <a:ln w="6350">
            <a:solidFill>
              <a:srgbClr val="EEE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744200" y="1161288"/>
            <a:ext cx="0" cy="1856232"/>
          </a:xfrm>
          <a:prstGeom prst="line">
            <a:avLst/>
          </a:prstGeom>
          <a:ln w="6350">
            <a:solidFill>
              <a:srgbClr val="EEE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10870691" y="914400"/>
            <a:ext cx="435864" cy="201167"/>
          </a:xfrm>
          <a:prstGeom prst="rect">
            <a:avLst/>
          </a:prstGeom>
          <a:solidFill>
            <a:srgbClr val="EEE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870691" y="932688"/>
            <a:ext cx="435864" cy="18287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750" b="1" i="1">
                <a:solidFill>
                  <a:srgbClr val="9C6F2D"/>
                </a:solidFill>
                <a:latin typeface="Calibri"/>
              </a:rPr>
              <a:t>Gaza war / MENA boycott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916412" y="1161288"/>
            <a:ext cx="0" cy="1856232"/>
          </a:xfrm>
          <a:prstGeom prst="line">
            <a:avLst/>
          </a:prstGeom>
          <a:ln w="6350">
            <a:solidFill>
              <a:srgbClr val="EEE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1260836" y="1161288"/>
            <a:ext cx="0" cy="1856232"/>
          </a:xfrm>
          <a:prstGeom prst="line">
            <a:avLst/>
          </a:prstGeom>
          <a:ln w="6350">
            <a:solidFill>
              <a:srgbClr val="EEE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11480" y="114300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5F6B7E"/>
                </a:solidFill>
                <a:latin typeface="Calibri"/>
              </a:rPr>
              <a:t>BRANDS ADDED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789176" y="1700784"/>
            <a:ext cx="0" cy="1307592"/>
          </a:xfrm>
          <a:prstGeom prst="line">
            <a:avLst/>
          </a:prstGeom>
          <a:ln w="508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1126236" y="1280160"/>
            <a:ext cx="13258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2E5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26236" y="1280160"/>
            <a:ext cx="54864" cy="420624"/>
          </a:xfrm>
          <a:prstGeom prst="rect">
            <a:avLst/>
          </a:prstGeom>
          <a:solidFill>
            <a:srgbClr val="2E5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17676" y="1298448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1" i="1">
                <a:solidFill>
                  <a:srgbClr val="2E5A97"/>
                </a:solidFill>
                <a:latin typeface="Calibri"/>
              </a:rPr>
              <a:t>1970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7676" y="1417320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A1F2C"/>
                </a:solidFill>
                <a:latin typeface="Calibri"/>
              </a:rPr>
              <a:t>Wimpy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7676" y="15544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5F6B7E"/>
                </a:solidFill>
                <a:latin typeface="Calibri"/>
              </a:rPr>
              <a:t>Kuwait — burger</a:t>
            </a:r>
          </a:p>
        </p:txBody>
      </p:sp>
      <p:sp>
        <p:nvSpPr>
          <p:cNvPr id="48" name="Oval 47"/>
          <p:cNvSpPr/>
          <p:nvPr/>
        </p:nvSpPr>
        <p:spPr>
          <a:xfrm>
            <a:off x="1757172" y="2985515"/>
            <a:ext cx="64008" cy="64008"/>
          </a:xfrm>
          <a:prstGeom prst="ellipse">
            <a:avLst/>
          </a:prstGeom>
          <a:solidFill>
            <a:srgbClr val="2E5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2133600" y="2018538"/>
            <a:ext cx="0" cy="989838"/>
          </a:xfrm>
          <a:prstGeom prst="line">
            <a:avLst/>
          </a:prstGeom>
          <a:ln w="508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1470660" y="1597914"/>
            <a:ext cx="13258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2E5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470660" y="1597914"/>
            <a:ext cx="54864" cy="420624"/>
          </a:xfrm>
          <a:prstGeom prst="rect">
            <a:avLst/>
          </a:prstGeom>
          <a:solidFill>
            <a:srgbClr val="2E5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562100" y="1616202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1" i="1">
                <a:solidFill>
                  <a:srgbClr val="2E5A97"/>
                </a:solidFill>
                <a:latin typeface="Calibri"/>
              </a:rPr>
              <a:t>1972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62100" y="1735074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A1F2C"/>
                </a:solidFill>
                <a:latin typeface="Calibri"/>
              </a:rPr>
              <a:t>Chicken Tikka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62100" y="1872234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5F6B7E"/>
                </a:solidFill>
                <a:latin typeface="Calibri"/>
              </a:rPr>
              <a:t>Cairo — grilled chicken</a:t>
            </a:r>
          </a:p>
        </p:txBody>
      </p:sp>
      <p:sp>
        <p:nvSpPr>
          <p:cNvPr id="55" name="Oval 54"/>
          <p:cNvSpPr/>
          <p:nvPr/>
        </p:nvSpPr>
        <p:spPr>
          <a:xfrm>
            <a:off x="2101596" y="2985515"/>
            <a:ext cx="64008" cy="64008"/>
          </a:xfrm>
          <a:prstGeom prst="ellipse">
            <a:avLst/>
          </a:prstGeom>
          <a:solidFill>
            <a:srgbClr val="2E5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>
            <a:off x="2305812" y="2336292"/>
            <a:ext cx="0" cy="672084"/>
          </a:xfrm>
          <a:prstGeom prst="line">
            <a:avLst/>
          </a:prstGeom>
          <a:ln w="508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1642872" y="1915668"/>
            <a:ext cx="13258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642872" y="1915668"/>
            <a:ext cx="54864" cy="42062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734312" y="1933956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1" i="1">
                <a:solidFill>
                  <a:srgbClr val="C0392B"/>
                </a:solidFill>
                <a:latin typeface="Calibri"/>
              </a:rPr>
              <a:t>1973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734312" y="2052828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A1F2C"/>
                </a:solidFill>
                <a:latin typeface="Calibri"/>
              </a:rPr>
              <a:t>KFC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34312" y="2189988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5F6B7E"/>
                </a:solidFill>
                <a:latin typeface="Calibri"/>
              </a:rPr>
              <a:t>Kuwait — Yum! franchise</a:t>
            </a:r>
          </a:p>
        </p:txBody>
      </p:sp>
      <p:sp>
        <p:nvSpPr>
          <p:cNvPr id="62" name="Oval 61"/>
          <p:cNvSpPr/>
          <p:nvPr/>
        </p:nvSpPr>
        <p:spPr>
          <a:xfrm>
            <a:off x="2273808" y="2985515"/>
            <a:ext cx="64008" cy="6400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3339084" y="2654046"/>
            <a:ext cx="0" cy="354330"/>
          </a:xfrm>
          <a:prstGeom prst="line">
            <a:avLst/>
          </a:prstGeom>
          <a:ln w="508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2676144" y="2233422"/>
            <a:ext cx="13258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676144" y="2233422"/>
            <a:ext cx="54864" cy="42062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67584" y="225171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1" i="1">
                <a:solidFill>
                  <a:srgbClr val="C0392B"/>
                </a:solidFill>
                <a:latin typeface="Calibri"/>
              </a:rPr>
              <a:t>1979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67584" y="2370582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A1F2C"/>
                </a:solidFill>
                <a:latin typeface="Calibri"/>
              </a:rPr>
              <a:t>Pizza Hut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67584" y="2507741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5F6B7E"/>
                </a:solidFill>
                <a:latin typeface="Calibri"/>
              </a:rPr>
              <a:t>UAE — Yum! franchise</a:t>
            </a:r>
          </a:p>
        </p:txBody>
      </p:sp>
      <p:sp>
        <p:nvSpPr>
          <p:cNvPr id="69" name="Oval 68"/>
          <p:cNvSpPr/>
          <p:nvPr/>
        </p:nvSpPr>
        <p:spPr>
          <a:xfrm>
            <a:off x="3307080" y="2985515"/>
            <a:ext cx="64008" cy="6400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3511296" y="2971800"/>
            <a:ext cx="0" cy="36576"/>
          </a:xfrm>
          <a:prstGeom prst="line">
            <a:avLst/>
          </a:prstGeom>
          <a:ln w="508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2848356" y="2551176"/>
            <a:ext cx="13258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848356" y="2551176"/>
            <a:ext cx="54864" cy="42062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939796" y="2569464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1" i="1">
                <a:solidFill>
                  <a:srgbClr val="C0392B"/>
                </a:solidFill>
                <a:latin typeface="Calibri"/>
              </a:rPr>
              <a:t>1980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939796" y="268833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A1F2C"/>
                </a:solidFill>
                <a:latin typeface="Calibri"/>
              </a:rPr>
              <a:t>Hardee's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39796" y="2825496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5F6B7E"/>
                </a:solidFill>
                <a:latin typeface="Calibri"/>
              </a:rPr>
              <a:t>KSA — CKE franchise</a:t>
            </a:r>
          </a:p>
        </p:txBody>
      </p:sp>
      <p:sp>
        <p:nvSpPr>
          <p:cNvPr id="76" name="Oval 75"/>
          <p:cNvSpPr/>
          <p:nvPr/>
        </p:nvSpPr>
        <p:spPr>
          <a:xfrm>
            <a:off x="3479292" y="2985515"/>
            <a:ext cx="64008" cy="6400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4544568" y="1700784"/>
            <a:ext cx="0" cy="1307592"/>
          </a:xfrm>
          <a:prstGeom prst="line">
            <a:avLst/>
          </a:prstGeom>
          <a:ln w="508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3881628" y="1280160"/>
            <a:ext cx="13258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2E5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881628" y="1280160"/>
            <a:ext cx="54864" cy="420624"/>
          </a:xfrm>
          <a:prstGeom prst="rect">
            <a:avLst/>
          </a:prstGeom>
          <a:solidFill>
            <a:srgbClr val="2E5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973068" y="1298448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1" i="1">
                <a:solidFill>
                  <a:srgbClr val="2E5A97"/>
                </a:solidFill>
                <a:latin typeface="Calibri"/>
              </a:rPr>
              <a:t>1986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973068" y="1417320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A1F2C"/>
                </a:solidFill>
                <a:latin typeface="Calibri"/>
              </a:rPr>
              <a:t>Baskin Robbins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73068" y="15544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5F6B7E"/>
                </a:solidFill>
                <a:latin typeface="Calibri"/>
              </a:rPr>
              <a:t>Ice cream</a:t>
            </a:r>
          </a:p>
        </p:txBody>
      </p:sp>
      <p:sp>
        <p:nvSpPr>
          <p:cNvPr id="83" name="Oval 82"/>
          <p:cNvSpPr/>
          <p:nvPr/>
        </p:nvSpPr>
        <p:spPr>
          <a:xfrm>
            <a:off x="4512564" y="2985515"/>
            <a:ext cx="64008" cy="64008"/>
          </a:xfrm>
          <a:prstGeom prst="ellipse">
            <a:avLst/>
          </a:prstGeom>
          <a:solidFill>
            <a:srgbClr val="2E5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>
            <a:off x="5922264" y="2018538"/>
            <a:ext cx="0" cy="989838"/>
          </a:xfrm>
          <a:prstGeom prst="line">
            <a:avLst/>
          </a:prstGeom>
          <a:ln w="508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ectangle 84"/>
          <p:cNvSpPr/>
          <p:nvPr/>
        </p:nvSpPr>
        <p:spPr>
          <a:xfrm>
            <a:off x="5259324" y="1597914"/>
            <a:ext cx="13258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2E5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259324" y="1597914"/>
            <a:ext cx="54864" cy="420624"/>
          </a:xfrm>
          <a:prstGeom prst="rect">
            <a:avLst/>
          </a:prstGeom>
          <a:solidFill>
            <a:srgbClr val="2E5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350764" y="1616202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1" i="1">
                <a:solidFill>
                  <a:srgbClr val="2E5A97"/>
                </a:solidFill>
                <a:latin typeface="Calibri"/>
              </a:rPr>
              <a:t>1994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350764" y="1735074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A1F2C"/>
                </a:solidFill>
                <a:latin typeface="Calibri"/>
              </a:rPr>
              <a:t>TGI Fridays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350764" y="1872234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5F6B7E"/>
                </a:solidFill>
                <a:latin typeface="Calibri"/>
              </a:rPr>
              <a:t>Casual dining</a:t>
            </a:r>
          </a:p>
        </p:txBody>
      </p:sp>
      <p:sp>
        <p:nvSpPr>
          <p:cNvPr id="90" name="Oval 89"/>
          <p:cNvSpPr/>
          <p:nvPr/>
        </p:nvSpPr>
        <p:spPr>
          <a:xfrm>
            <a:off x="5890260" y="2985515"/>
            <a:ext cx="64008" cy="64008"/>
          </a:xfrm>
          <a:prstGeom prst="ellipse">
            <a:avLst/>
          </a:prstGeom>
          <a:solidFill>
            <a:srgbClr val="2E5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>
            <a:off x="7644384" y="2336292"/>
            <a:ext cx="0" cy="672084"/>
          </a:xfrm>
          <a:prstGeom prst="line">
            <a:avLst/>
          </a:prstGeom>
          <a:ln w="508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ctangle 91"/>
          <p:cNvSpPr/>
          <p:nvPr/>
        </p:nvSpPr>
        <p:spPr>
          <a:xfrm>
            <a:off x="6981444" y="1915668"/>
            <a:ext cx="13258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2E5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981444" y="1915668"/>
            <a:ext cx="54864" cy="420624"/>
          </a:xfrm>
          <a:prstGeom prst="rect">
            <a:avLst/>
          </a:prstGeom>
          <a:solidFill>
            <a:srgbClr val="2E5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072884" y="1933956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1" i="1">
                <a:solidFill>
                  <a:srgbClr val="2E5A97"/>
                </a:solidFill>
                <a:latin typeface="Calibri"/>
              </a:rPr>
              <a:t>2004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072884" y="2052828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A1F2C"/>
                </a:solidFill>
                <a:latin typeface="Calibri"/>
              </a:rPr>
              <a:t>Costa Coffee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072884" y="2189988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5F6B7E"/>
                </a:solidFill>
                <a:latin typeface="Calibri"/>
              </a:rPr>
              <a:t>Exclusive MENA</a:t>
            </a:r>
          </a:p>
        </p:txBody>
      </p:sp>
      <p:sp>
        <p:nvSpPr>
          <p:cNvPr id="97" name="Oval 96"/>
          <p:cNvSpPr/>
          <p:nvPr/>
        </p:nvSpPr>
        <p:spPr>
          <a:xfrm>
            <a:off x="7612380" y="2985515"/>
            <a:ext cx="64008" cy="64008"/>
          </a:xfrm>
          <a:prstGeom prst="ellipse">
            <a:avLst/>
          </a:prstGeom>
          <a:solidFill>
            <a:srgbClr val="2E5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8" name="Connector 97"/>
          <p:cNvCxnSpPr/>
          <p:nvPr/>
        </p:nvCxnSpPr>
        <p:spPr>
          <a:xfrm>
            <a:off x="7988808" y="2654046"/>
            <a:ext cx="0" cy="354330"/>
          </a:xfrm>
          <a:prstGeom prst="line">
            <a:avLst/>
          </a:prstGeom>
          <a:ln w="508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ectangle 98"/>
          <p:cNvSpPr/>
          <p:nvPr/>
        </p:nvSpPr>
        <p:spPr>
          <a:xfrm>
            <a:off x="7325868" y="2233422"/>
            <a:ext cx="13258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7325868" y="2233422"/>
            <a:ext cx="54864" cy="42062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417308" y="225171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1" i="1">
                <a:solidFill>
                  <a:srgbClr val="C0392B"/>
                </a:solidFill>
                <a:latin typeface="Calibri"/>
              </a:rPr>
              <a:t>2006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417308" y="2370582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A1F2C"/>
                </a:solidFill>
                <a:latin typeface="Calibri"/>
              </a:rPr>
              <a:t>Krispy Kreme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417308" y="2507741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5F6B7E"/>
                </a:solidFill>
                <a:latin typeface="Calibri"/>
              </a:rPr>
              <a:t>MENA franchise</a:t>
            </a:r>
          </a:p>
        </p:txBody>
      </p:sp>
      <p:sp>
        <p:nvSpPr>
          <p:cNvPr id="104" name="Oval 103"/>
          <p:cNvSpPr/>
          <p:nvPr/>
        </p:nvSpPr>
        <p:spPr>
          <a:xfrm>
            <a:off x="7956804" y="2985515"/>
            <a:ext cx="64008" cy="6400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>
            <a:off x="10744200" y="2971800"/>
            <a:ext cx="0" cy="36576"/>
          </a:xfrm>
          <a:prstGeom prst="line">
            <a:avLst/>
          </a:prstGeom>
          <a:ln w="508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ectangle 105"/>
          <p:cNvSpPr/>
          <p:nvPr/>
        </p:nvSpPr>
        <p:spPr>
          <a:xfrm>
            <a:off x="10081260" y="2551176"/>
            <a:ext cx="13258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2E5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081260" y="2551176"/>
            <a:ext cx="54864" cy="420624"/>
          </a:xfrm>
          <a:prstGeom prst="rect">
            <a:avLst/>
          </a:prstGeom>
          <a:solidFill>
            <a:srgbClr val="2E5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172700" y="2569464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1" i="1">
                <a:solidFill>
                  <a:srgbClr val="2E5A97"/>
                </a:solidFill>
                <a:latin typeface="Calibri"/>
              </a:rPr>
              <a:t>2022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172700" y="268833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A1F2C"/>
                </a:solidFill>
                <a:latin typeface="Calibri"/>
              </a:rPr>
              <a:t>Peet's Coffee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172700" y="2825496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5F6B7E"/>
                </a:solidFill>
                <a:latin typeface="Calibri"/>
              </a:rPr>
              <a:t>JDE Peet's premium</a:t>
            </a:r>
          </a:p>
        </p:txBody>
      </p:sp>
      <p:sp>
        <p:nvSpPr>
          <p:cNvPr id="111" name="Oval 110"/>
          <p:cNvSpPr/>
          <p:nvPr/>
        </p:nvSpPr>
        <p:spPr>
          <a:xfrm>
            <a:off x="10712196" y="2985515"/>
            <a:ext cx="64008" cy="64008"/>
          </a:xfrm>
          <a:prstGeom prst="ellipse">
            <a:avLst/>
          </a:prstGeom>
          <a:solidFill>
            <a:srgbClr val="2E5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2" name="Connector 111"/>
          <p:cNvCxnSpPr/>
          <p:nvPr/>
        </p:nvCxnSpPr>
        <p:spPr>
          <a:xfrm>
            <a:off x="11260836" y="1700784"/>
            <a:ext cx="0" cy="1307592"/>
          </a:xfrm>
          <a:prstGeom prst="line">
            <a:avLst/>
          </a:prstGeom>
          <a:ln w="508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ectangle 112"/>
          <p:cNvSpPr/>
          <p:nvPr/>
        </p:nvSpPr>
        <p:spPr>
          <a:xfrm>
            <a:off x="10451592" y="1280160"/>
            <a:ext cx="13258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2E5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451592" y="1280160"/>
            <a:ext cx="54864" cy="420624"/>
          </a:xfrm>
          <a:prstGeom prst="rect">
            <a:avLst/>
          </a:prstGeom>
          <a:solidFill>
            <a:srgbClr val="2E5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543032" y="1298448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1" i="1">
                <a:solidFill>
                  <a:srgbClr val="2E5A97"/>
                </a:solidFill>
                <a:latin typeface="Calibri"/>
              </a:rPr>
              <a:t>2025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543032" y="1417320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A1F2C"/>
                </a:solidFill>
                <a:latin typeface="Calibri"/>
              </a:rPr>
              <a:t>Pizza Hut Oman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543032" y="1554480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5F6B7E"/>
                </a:solidFill>
                <a:latin typeface="Calibri"/>
              </a:rPr>
              <a:t>Bolt-on — 46 stores</a:t>
            </a:r>
          </a:p>
        </p:txBody>
      </p:sp>
      <p:sp>
        <p:nvSpPr>
          <p:cNvPr id="118" name="Oval 117"/>
          <p:cNvSpPr/>
          <p:nvPr/>
        </p:nvSpPr>
        <p:spPr>
          <a:xfrm>
            <a:off x="11228832" y="2985515"/>
            <a:ext cx="64008" cy="64008"/>
          </a:xfrm>
          <a:prstGeom prst="ellipse">
            <a:avLst/>
          </a:prstGeom>
          <a:solidFill>
            <a:srgbClr val="2E5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11260836" y="2018538"/>
            <a:ext cx="0" cy="989838"/>
          </a:xfrm>
          <a:prstGeom prst="line">
            <a:avLst/>
          </a:prstGeom>
          <a:ln w="508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ectangle 119"/>
          <p:cNvSpPr/>
          <p:nvPr/>
        </p:nvSpPr>
        <p:spPr>
          <a:xfrm>
            <a:off x="10451592" y="1597914"/>
            <a:ext cx="13258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2E5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0451592" y="1597914"/>
            <a:ext cx="54864" cy="420624"/>
          </a:xfrm>
          <a:prstGeom prst="rect">
            <a:avLst/>
          </a:prstGeom>
          <a:solidFill>
            <a:srgbClr val="2E5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0543032" y="1616202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1" i="1">
                <a:solidFill>
                  <a:srgbClr val="2E5A97"/>
                </a:solidFill>
                <a:latin typeface="Calibri"/>
              </a:rPr>
              <a:t>2025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543032" y="1735074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A1F2C"/>
                </a:solidFill>
                <a:latin typeface="Calibri"/>
              </a:rPr>
              <a:t>Carpo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543032" y="1872234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5F6B7E"/>
                </a:solidFill>
                <a:latin typeface="Calibri"/>
              </a:rPr>
              <a:t>BHR/KWT/QAT/KSA license</a:t>
            </a:r>
          </a:p>
        </p:txBody>
      </p:sp>
      <p:sp>
        <p:nvSpPr>
          <p:cNvPr id="125" name="Oval 124"/>
          <p:cNvSpPr/>
          <p:nvPr/>
        </p:nvSpPr>
        <p:spPr>
          <a:xfrm>
            <a:off x="11228832" y="2985515"/>
            <a:ext cx="64008" cy="64008"/>
          </a:xfrm>
          <a:prstGeom prst="ellipse">
            <a:avLst/>
          </a:prstGeom>
          <a:solidFill>
            <a:srgbClr val="2E5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6" name="Connector 125"/>
          <p:cNvCxnSpPr/>
          <p:nvPr/>
        </p:nvCxnSpPr>
        <p:spPr>
          <a:xfrm>
            <a:off x="11433048" y="2336292"/>
            <a:ext cx="0" cy="672084"/>
          </a:xfrm>
          <a:prstGeom prst="line">
            <a:avLst/>
          </a:prstGeom>
          <a:ln w="508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Rectangle 126"/>
          <p:cNvSpPr/>
          <p:nvPr/>
        </p:nvSpPr>
        <p:spPr>
          <a:xfrm>
            <a:off x="10451592" y="1915668"/>
            <a:ext cx="13258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2E5A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0451592" y="1915668"/>
            <a:ext cx="54864" cy="420624"/>
          </a:xfrm>
          <a:prstGeom prst="rect">
            <a:avLst/>
          </a:prstGeom>
          <a:solidFill>
            <a:srgbClr val="2E5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0543032" y="1933956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1" i="1">
                <a:solidFill>
                  <a:srgbClr val="2E5A97"/>
                </a:solidFill>
                <a:latin typeface="Calibri"/>
              </a:rPr>
              <a:t>2026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543032" y="2052828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A1F2C"/>
                </a:solidFill>
                <a:latin typeface="Calibri"/>
              </a:rPr>
              <a:t>Malak Al Tawouk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543032" y="2189988"/>
            <a:ext cx="1188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5F6B7E"/>
                </a:solidFill>
                <a:latin typeface="Calibri"/>
              </a:rPr>
              <a:t>Lebanese QSR — 75-yr</a:t>
            </a:r>
          </a:p>
        </p:txBody>
      </p:sp>
      <p:sp>
        <p:nvSpPr>
          <p:cNvPr id="132" name="Oval 131"/>
          <p:cNvSpPr/>
          <p:nvPr/>
        </p:nvSpPr>
        <p:spPr>
          <a:xfrm>
            <a:off x="11401044" y="2985515"/>
            <a:ext cx="64008" cy="64008"/>
          </a:xfrm>
          <a:prstGeom prst="ellipse">
            <a:avLst/>
          </a:prstGeom>
          <a:solidFill>
            <a:srgbClr val="2E5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3" name="Connector 132"/>
          <p:cNvCxnSpPr/>
          <p:nvPr/>
        </p:nvCxnSpPr>
        <p:spPr>
          <a:xfrm>
            <a:off x="411480" y="3017520"/>
            <a:ext cx="11365992" cy="0"/>
          </a:xfrm>
          <a:prstGeom prst="line">
            <a:avLst/>
          </a:prstGeom>
          <a:ln w="25400">
            <a:solidFill>
              <a:srgbClr val="0F2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928116" y="2980944"/>
            <a:ext cx="0" cy="73152"/>
          </a:xfrm>
          <a:prstGeom prst="line">
            <a:avLst/>
          </a:prstGeom>
          <a:ln w="12700">
            <a:solidFill>
              <a:srgbClr val="0F2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699516" y="3063239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>
                <a:solidFill>
                  <a:srgbClr val="1A1F2C"/>
                </a:solidFill>
                <a:latin typeface="Calibri"/>
              </a:rPr>
              <a:t>1965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1789176" y="2980944"/>
            <a:ext cx="0" cy="73152"/>
          </a:xfrm>
          <a:prstGeom prst="line">
            <a:avLst/>
          </a:prstGeom>
          <a:ln w="12700">
            <a:solidFill>
              <a:srgbClr val="0F2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TextBox 136"/>
          <p:cNvSpPr txBox="1"/>
          <p:nvPr/>
        </p:nvSpPr>
        <p:spPr>
          <a:xfrm>
            <a:off x="1560576" y="3063239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1A1F2C"/>
                </a:solidFill>
                <a:latin typeface="Calibri"/>
              </a:rPr>
              <a:t>1970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2650236" y="2980944"/>
            <a:ext cx="0" cy="73152"/>
          </a:xfrm>
          <a:prstGeom prst="line">
            <a:avLst/>
          </a:prstGeom>
          <a:ln w="12700">
            <a:solidFill>
              <a:srgbClr val="0F2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2421636" y="3063239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>
                <a:solidFill>
                  <a:srgbClr val="1A1F2C"/>
                </a:solidFill>
                <a:latin typeface="Calibri"/>
              </a:rPr>
              <a:t>1975</a:t>
            </a:r>
          </a:p>
        </p:txBody>
      </p:sp>
      <p:cxnSp>
        <p:nvCxnSpPr>
          <p:cNvPr id="140" name="Connector 139"/>
          <p:cNvCxnSpPr/>
          <p:nvPr/>
        </p:nvCxnSpPr>
        <p:spPr>
          <a:xfrm>
            <a:off x="3511296" y="2980944"/>
            <a:ext cx="0" cy="73152"/>
          </a:xfrm>
          <a:prstGeom prst="line">
            <a:avLst/>
          </a:prstGeom>
          <a:ln w="12700">
            <a:solidFill>
              <a:srgbClr val="0F2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140"/>
          <p:cNvSpPr txBox="1"/>
          <p:nvPr/>
        </p:nvSpPr>
        <p:spPr>
          <a:xfrm>
            <a:off x="3282696" y="3063239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1A1F2C"/>
                </a:solidFill>
                <a:latin typeface="Calibri"/>
              </a:rPr>
              <a:t>1980</a:t>
            </a:r>
          </a:p>
        </p:txBody>
      </p:sp>
      <p:cxnSp>
        <p:nvCxnSpPr>
          <p:cNvPr id="142" name="Connector 141"/>
          <p:cNvCxnSpPr/>
          <p:nvPr/>
        </p:nvCxnSpPr>
        <p:spPr>
          <a:xfrm>
            <a:off x="4372356" y="2980944"/>
            <a:ext cx="0" cy="73152"/>
          </a:xfrm>
          <a:prstGeom prst="line">
            <a:avLst/>
          </a:prstGeom>
          <a:ln w="12700">
            <a:solidFill>
              <a:srgbClr val="0F2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4143756" y="3063239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>
                <a:solidFill>
                  <a:srgbClr val="1A1F2C"/>
                </a:solidFill>
                <a:latin typeface="Calibri"/>
              </a:rPr>
              <a:t>1985</a:t>
            </a:r>
          </a:p>
        </p:txBody>
      </p:sp>
      <p:cxnSp>
        <p:nvCxnSpPr>
          <p:cNvPr id="144" name="Connector 143"/>
          <p:cNvCxnSpPr/>
          <p:nvPr/>
        </p:nvCxnSpPr>
        <p:spPr>
          <a:xfrm>
            <a:off x="5233416" y="2980944"/>
            <a:ext cx="0" cy="73152"/>
          </a:xfrm>
          <a:prstGeom prst="line">
            <a:avLst/>
          </a:prstGeom>
          <a:ln w="12700">
            <a:solidFill>
              <a:srgbClr val="0F2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TextBox 144"/>
          <p:cNvSpPr txBox="1"/>
          <p:nvPr/>
        </p:nvSpPr>
        <p:spPr>
          <a:xfrm>
            <a:off x="5004816" y="3063239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1A1F2C"/>
                </a:solidFill>
                <a:latin typeface="Calibri"/>
              </a:rPr>
              <a:t>1990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6094476" y="2980944"/>
            <a:ext cx="0" cy="73152"/>
          </a:xfrm>
          <a:prstGeom prst="line">
            <a:avLst/>
          </a:prstGeom>
          <a:ln w="12700">
            <a:solidFill>
              <a:srgbClr val="0F2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5865876" y="3063239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>
                <a:solidFill>
                  <a:srgbClr val="1A1F2C"/>
                </a:solidFill>
                <a:latin typeface="Calibri"/>
              </a:rPr>
              <a:t>1995</a:t>
            </a:r>
          </a:p>
        </p:txBody>
      </p:sp>
      <p:cxnSp>
        <p:nvCxnSpPr>
          <p:cNvPr id="148" name="Connector 147"/>
          <p:cNvCxnSpPr/>
          <p:nvPr/>
        </p:nvCxnSpPr>
        <p:spPr>
          <a:xfrm>
            <a:off x="6955536" y="2980944"/>
            <a:ext cx="0" cy="73152"/>
          </a:xfrm>
          <a:prstGeom prst="line">
            <a:avLst/>
          </a:prstGeom>
          <a:ln w="12700">
            <a:solidFill>
              <a:srgbClr val="0F2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TextBox 148"/>
          <p:cNvSpPr txBox="1"/>
          <p:nvPr/>
        </p:nvSpPr>
        <p:spPr>
          <a:xfrm>
            <a:off x="6726936" y="3063239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1A1F2C"/>
                </a:solidFill>
                <a:latin typeface="Calibri"/>
              </a:rPr>
              <a:t>2000</a:t>
            </a:r>
          </a:p>
        </p:txBody>
      </p:sp>
      <p:cxnSp>
        <p:nvCxnSpPr>
          <p:cNvPr id="150" name="Connector 149"/>
          <p:cNvCxnSpPr/>
          <p:nvPr/>
        </p:nvCxnSpPr>
        <p:spPr>
          <a:xfrm>
            <a:off x="7816596" y="2980944"/>
            <a:ext cx="0" cy="73152"/>
          </a:xfrm>
          <a:prstGeom prst="line">
            <a:avLst/>
          </a:prstGeom>
          <a:ln w="12700">
            <a:solidFill>
              <a:srgbClr val="0F2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TextBox 150"/>
          <p:cNvSpPr txBox="1"/>
          <p:nvPr/>
        </p:nvSpPr>
        <p:spPr>
          <a:xfrm>
            <a:off x="7587996" y="3063239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>
                <a:solidFill>
                  <a:srgbClr val="1A1F2C"/>
                </a:solidFill>
                <a:latin typeface="Calibri"/>
              </a:rPr>
              <a:t>2005</a:t>
            </a:r>
          </a:p>
        </p:txBody>
      </p:sp>
      <p:cxnSp>
        <p:nvCxnSpPr>
          <p:cNvPr id="152" name="Connector 151"/>
          <p:cNvCxnSpPr/>
          <p:nvPr/>
        </p:nvCxnSpPr>
        <p:spPr>
          <a:xfrm>
            <a:off x="8677656" y="2980944"/>
            <a:ext cx="0" cy="73152"/>
          </a:xfrm>
          <a:prstGeom prst="line">
            <a:avLst/>
          </a:prstGeom>
          <a:ln w="12700">
            <a:solidFill>
              <a:srgbClr val="0F2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TextBox 152"/>
          <p:cNvSpPr txBox="1"/>
          <p:nvPr/>
        </p:nvSpPr>
        <p:spPr>
          <a:xfrm>
            <a:off x="8449056" y="3063239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1A1F2C"/>
                </a:solidFill>
                <a:latin typeface="Calibri"/>
              </a:rPr>
              <a:t>2010</a:t>
            </a:r>
          </a:p>
        </p:txBody>
      </p:sp>
      <p:cxnSp>
        <p:nvCxnSpPr>
          <p:cNvPr id="154" name="Connector 153"/>
          <p:cNvCxnSpPr/>
          <p:nvPr/>
        </p:nvCxnSpPr>
        <p:spPr>
          <a:xfrm>
            <a:off x="9538716" y="2980944"/>
            <a:ext cx="0" cy="73152"/>
          </a:xfrm>
          <a:prstGeom prst="line">
            <a:avLst/>
          </a:prstGeom>
          <a:ln w="12700">
            <a:solidFill>
              <a:srgbClr val="0F2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TextBox 154"/>
          <p:cNvSpPr txBox="1"/>
          <p:nvPr/>
        </p:nvSpPr>
        <p:spPr>
          <a:xfrm>
            <a:off x="9310116" y="3063239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>
                <a:solidFill>
                  <a:srgbClr val="1A1F2C"/>
                </a:solidFill>
                <a:latin typeface="Calibri"/>
              </a:rPr>
              <a:t>2015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10399776" y="2980944"/>
            <a:ext cx="0" cy="73152"/>
          </a:xfrm>
          <a:prstGeom prst="line">
            <a:avLst/>
          </a:prstGeom>
          <a:ln w="12700">
            <a:solidFill>
              <a:srgbClr val="0F2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10171176" y="3063239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1A1F2C"/>
                </a:solidFill>
                <a:latin typeface="Calibri"/>
              </a:rPr>
              <a:t>2020</a:t>
            </a:r>
          </a:p>
        </p:txBody>
      </p:sp>
      <p:cxnSp>
        <p:nvCxnSpPr>
          <p:cNvPr id="158" name="Connector 157"/>
          <p:cNvCxnSpPr/>
          <p:nvPr/>
        </p:nvCxnSpPr>
        <p:spPr>
          <a:xfrm>
            <a:off x="11260836" y="2980944"/>
            <a:ext cx="0" cy="73152"/>
          </a:xfrm>
          <a:prstGeom prst="line">
            <a:avLst/>
          </a:prstGeom>
          <a:ln w="12700">
            <a:solidFill>
              <a:srgbClr val="0F2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TextBox 158"/>
          <p:cNvSpPr txBox="1"/>
          <p:nvPr/>
        </p:nvSpPr>
        <p:spPr>
          <a:xfrm>
            <a:off x="11032236" y="3063239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0">
                <a:solidFill>
                  <a:srgbClr val="1A1F2C"/>
                </a:solidFill>
                <a:latin typeface="Calibri"/>
              </a:rPr>
              <a:t>2025</a:t>
            </a:r>
          </a:p>
        </p:txBody>
      </p:sp>
      <p:cxnSp>
        <p:nvCxnSpPr>
          <p:cNvPr id="160" name="Connector 159"/>
          <p:cNvCxnSpPr/>
          <p:nvPr/>
        </p:nvCxnSpPr>
        <p:spPr>
          <a:xfrm>
            <a:off x="12121896" y="2980944"/>
            <a:ext cx="0" cy="73152"/>
          </a:xfrm>
          <a:prstGeom prst="line">
            <a:avLst/>
          </a:prstGeom>
          <a:ln w="12700">
            <a:solidFill>
              <a:srgbClr val="0F2A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/>
          <p:cNvSpPr txBox="1"/>
          <p:nvPr/>
        </p:nvSpPr>
        <p:spPr>
          <a:xfrm>
            <a:off x="11893296" y="3063239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1" i="0">
                <a:solidFill>
                  <a:srgbClr val="1A1F2C"/>
                </a:solidFill>
                <a:latin typeface="Calibri"/>
              </a:rPr>
              <a:t>2030</a:t>
            </a:r>
          </a:p>
        </p:txBody>
      </p:sp>
      <p:sp>
        <p:nvSpPr>
          <p:cNvPr id="162" name="Diamond 161"/>
          <p:cNvSpPr/>
          <p:nvPr/>
        </p:nvSpPr>
        <p:spPr>
          <a:xfrm>
            <a:off x="4126992" y="2944368"/>
            <a:ext cx="146304" cy="146304"/>
          </a:xfrm>
          <a:prstGeom prst="diamond">
            <a:avLst/>
          </a:prstGeom>
          <a:solidFill>
            <a:srgbClr val="C9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3377184" y="3200400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1" i="1">
                <a:solidFill>
                  <a:srgbClr val="C99A3A"/>
                </a:solidFill>
                <a:latin typeface="Calibri"/>
              </a:rPr>
              <a:t>Listed KSE</a:t>
            </a:r>
          </a:p>
        </p:txBody>
      </p:sp>
      <p:sp>
        <p:nvSpPr>
          <p:cNvPr id="164" name="Diamond 163"/>
          <p:cNvSpPr/>
          <p:nvPr/>
        </p:nvSpPr>
        <p:spPr>
          <a:xfrm>
            <a:off x="9637776" y="2944368"/>
            <a:ext cx="146304" cy="146304"/>
          </a:xfrm>
          <a:prstGeom prst="diamond">
            <a:avLst/>
          </a:prstGeom>
          <a:solidFill>
            <a:srgbClr val="8C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8887968" y="3200400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1" i="1">
                <a:solidFill>
                  <a:srgbClr val="8C2A22"/>
                </a:solidFill>
                <a:latin typeface="Calibri"/>
              </a:rPr>
              <a:t>Adeptio majority</a:t>
            </a:r>
          </a:p>
        </p:txBody>
      </p:sp>
      <p:sp>
        <p:nvSpPr>
          <p:cNvPr id="166" name="Diamond 165"/>
          <p:cNvSpPr/>
          <p:nvPr/>
        </p:nvSpPr>
        <p:spPr>
          <a:xfrm>
            <a:off x="9982200" y="2944368"/>
            <a:ext cx="146304" cy="146304"/>
          </a:xfrm>
          <a:prstGeom prst="diamond">
            <a:avLst/>
          </a:prstGeom>
          <a:solidFill>
            <a:srgbClr val="8C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9232392" y="3200400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1" i="1">
                <a:solidFill>
                  <a:srgbClr val="8C2A22"/>
                </a:solidFill>
                <a:latin typeface="Calibri"/>
              </a:rPr>
              <a:t>De-listed KSE</a:t>
            </a:r>
          </a:p>
        </p:txBody>
      </p:sp>
      <p:sp>
        <p:nvSpPr>
          <p:cNvPr id="168" name="Diamond 167"/>
          <p:cNvSpPr/>
          <p:nvPr/>
        </p:nvSpPr>
        <p:spPr>
          <a:xfrm>
            <a:off x="10671048" y="2944368"/>
            <a:ext cx="146304" cy="146304"/>
          </a:xfrm>
          <a:prstGeom prst="diamond">
            <a:avLst/>
          </a:prstGeom>
          <a:solidFill>
            <a:srgbClr val="C9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9921240" y="3200400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1" i="1">
                <a:solidFill>
                  <a:srgbClr val="C99A3A"/>
                </a:solidFill>
                <a:latin typeface="Calibri"/>
              </a:rPr>
              <a:t>Dual IPO ADX+Tadawul</a:t>
            </a:r>
          </a:p>
        </p:txBody>
      </p:sp>
      <p:sp>
        <p:nvSpPr>
          <p:cNvPr id="170" name="Diamond 169"/>
          <p:cNvSpPr/>
          <p:nvPr/>
        </p:nvSpPr>
        <p:spPr>
          <a:xfrm>
            <a:off x="11187684" y="2944368"/>
            <a:ext cx="146304" cy="146304"/>
          </a:xfrm>
          <a:prstGeom prst="diamond">
            <a:avLst/>
          </a:prstGeom>
          <a:solidFill>
            <a:srgbClr val="8C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0437876" y="3200400"/>
            <a:ext cx="16459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700" b="1" i="1">
                <a:solidFill>
                  <a:srgbClr val="8C2A22"/>
                </a:solidFill>
                <a:latin typeface="Calibri"/>
              </a:rPr>
              <a:t>Pillar Two starts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11480" y="3346703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 i="0">
                <a:solidFill>
                  <a:srgbClr val="6E479A"/>
                </a:solidFill>
                <a:latin typeface="Calibri"/>
              </a:rPr>
              <a:t>BRAND-LEVEL COUNTRY EXPANSION (selected)</a:t>
            </a:r>
          </a:p>
        </p:txBody>
      </p:sp>
      <p:cxnSp>
        <p:nvCxnSpPr>
          <p:cNvPr id="173" name="Connector 172"/>
          <p:cNvCxnSpPr/>
          <p:nvPr/>
        </p:nvCxnSpPr>
        <p:spPr>
          <a:xfrm>
            <a:off x="9366504" y="3383279"/>
            <a:ext cx="0" cy="91441"/>
          </a:xfrm>
          <a:prstGeom prst="line">
            <a:avLst/>
          </a:prstGeom>
          <a:ln w="508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Rectangle 173"/>
          <p:cNvSpPr/>
          <p:nvPr/>
        </p:nvSpPr>
        <p:spPr>
          <a:xfrm>
            <a:off x="8817864" y="3474720"/>
            <a:ext cx="10972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6E4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8817864" y="3474720"/>
            <a:ext cx="36576" cy="292608"/>
          </a:xfrm>
          <a:prstGeom prst="rect">
            <a:avLst/>
          </a:prstGeom>
          <a:solidFill>
            <a:srgbClr val="6E4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8881872" y="3493008"/>
            <a:ext cx="100583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i="1">
                <a:solidFill>
                  <a:srgbClr val="6E479A"/>
                </a:solidFill>
                <a:latin typeface="Calibri"/>
              </a:rPr>
              <a:t>2014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8881872" y="3593591"/>
            <a:ext cx="10058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A1F2C"/>
                </a:solidFill>
                <a:latin typeface="Calibri"/>
              </a:rPr>
              <a:t>PH → KSA</a:t>
            </a:r>
          </a:p>
        </p:txBody>
      </p:sp>
      <p:cxnSp>
        <p:nvCxnSpPr>
          <p:cNvPr id="178" name="Connector 177"/>
          <p:cNvCxnSpPr/>
          <p:nvPr/>
        </p:nvCxnSpPr>
        <p:spPr>
          <a:xfrm>
            <a:off x="9366504" y="3383279"/>
            <a:ext cx="0" cy="310897"/>
          </a:xfrm>
          <a:prstGeom prst="line">
            <a:avLst/>
          </a:prstGeom>
          <a:ln w="508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Rectangle 178"/>
          <p:cNvSpPr/>
          <p:nvPr/>
        </p:nvSpPr>
        <p:spPr>
          <a:xfrm>
            <a:off x="8817864" y="3694176"/>
            <a:ext cx="10972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6E4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817864" y="3694176"/>
            <a:ext cx="36576" cy="292608"/>
          </a:xfrm>
          <a:prstGeom prst="rect">
            <a:avLst/>
          </a:prstGeom>
          <a:solidFill>
            <a:srgbClr val="6E4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8881872" y="3712463"/>
            <a:ext cx="100583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i="1">
                <a:solidFill>
                  <a:srgbClr val="6E479A"/>
                </a:solidFill>
                <a:latin typeface="Calibri"/>
              </a:rPr>
              <a:t>2014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8881872" y="3813048"/>
            <a:ext cx="10058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A1F2C"/>
                </a:solidFill>
                <a:latin typeface="Calibri"/>
              </a:rPr>
              <a:t>KK → Jordan</a:t>
            </a:r>
          </a:p>
        </p:txBody>
      </p:sp>
      <p:cxnSp>
        <p:nvCxnSpPr>
          <p:cNvPr id="183" name="Connector 182"/>
          <p:cNvCxnSpPr/>
          <p:nvPr/>
        </p:nvCxnSpPr>
        <p:spPr>
          <a:xfrm>
            <a:off x="10916412" y="3383279"/>
            <a:ext cx="0" cy="530353"/>
          </a:xfrm>
          <a:prstGeom prst="line">
            <a:avLst/>
          </a:prstGeom>
          <a:ln w="508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Rectangle 183"/>
          <p:cNvSpPr/>
          <p:nvPr/>
        </p:nvSpPr>
        <p:spPr>
          <a:xfrm>
            <a:off x="10367772" y="3913632"/>
            <a:ext cx="10972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6E4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10367772" y="3913632"/>
            <a:ext cx="36576" cy="292608"/>
          </a:xfrm>
          <a:prstGeom prst="rect">
            <a:avLst/>
          </a:prstGeom>
          <a:solidFill>
            <a:srgbClr val="6E4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10431780" y="3931920"/>
            <a:ext cx="100583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i="1">
                <a:solidFill>
                  <a:srgbClr val="6E479A"/>
                </a:solidFill>
                <a:latin typeface="Calibri"/>
              </a:rPr>
              <a:t>2023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0431780" y="4032504"/>
            <a:ext cx="10058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A1F2C"/>
                </a:solidFill>
                <a:latin typeface="Calibri"/>
              </a:rPr>
              <a:t>KFC+PH → Iraq</a:t>
            </a:r>
          </a:p>
        </p:txBody>
      </p:sp>
      <p:cxnSp>
        <p:nvCxnSpPr>
          <p:cNvPr id="188" name="Connector 187"/>
          <p:cNvCxnSpPr/>
          <p:nvPr/>
        </p:nvCxnSpPr>
        <p:spPr>
          <a:xfrm>
            <a:off x="10916412" y="3383279"/>
            <a:ext cx="0" cy="91441"/>
          </a:xfrm>
          <a:prstGeom prst="line">
            <a:avLst/>
          </a:prstGeom>
          <a:ln w="508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Rectangle 188"/>
          <p:cNvSpPr/>
          <p:nvPr/>
        </p:nvSpPr>
        <p:spPr>
          <a:xfrm>
            <a:off x="10367772" y="3474720"/>
            <a:ext cx="10972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6E4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10367772" y="3474720"/>
            <a:ext cx="36576" cy="292608"/>
          </a:xfrm>
          <a:prstGeom prst="rect">
            <a:avLst/>
          </a:prstGeom>
          <a:solidFill>
            <a:srgbClr val="6E4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10431780" y="3493008"/>
            <a:ext cx="100583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i="1">
                <a:solidFill>
                  <a:srgbClr val="6E479A"/>
                </a:solidFill>
                <a:latin typeface="Calibri"/>
              </a:rPr>
              <a:t>2023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10431780" y="3593591"/>
            <a:ext cx="10058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A1F2C"/>
                </a:solidFill>
                <a:latin typeface="Calibri"/>
              </a:rPr>
              <a:t>KK → Kazakhstan</a:t>
            </a:r>
          </a:p>
        </p:txBody>
      </p:sp>
      <p:cxnSp>
        <p:nvCxnSpPr>
          <p:cNvPr id="193" name="Connector 192"/>
          <p:cNvCxnSpPr/>
          <p:nvPr/>
        </p:nvCxnSpPr>
        <p:spPr>
          <a:xfrm>
            <a:off x="11088624" y="3383279"/>
            <a:ext cx="0" cy="310897"/>
          </a:xfrm>
          <a:prstGeom prst="line">
            <a:avLst/>
          </a:prstGeom>
          <a:ln w="508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Rectangle 193"/>
          <p:cNvSpPr/>
          <p:nvPr/>
        </p:nvSpPr>
        <p:spPr>
          <a:xfrm>
            <a:off x="10539984" y="3694176"/>
            <a:ext cx="10972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6E4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10539984" y="3694176"/>
            <a:ext cx="36576" cy="292608"/>
          </a:xfrm>
          <a:prstGeom prst="rect">
            <a:avLst/>
          </a:prstGeom>
          <a:solidFill>
            <a:srgbClr val="6E4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10603992" y="3712463"/>
            <a:ext cx="100583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i="1">
                <a:solidFill>
                  <a:srgbClr val="6E479A"/>
                </a:solidFill>
                <a:latin typeface="Calibri"/>
              </a:rPr>
              <a:t>2024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10603992" y="3813048"/>
            <a:ext cx="10058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A1F2C"/>
                </a:solidFill>
                <a:latin typeface="Calibri"/>
              </a:rPr>
              <a:t>Peet's → Dubai</a:t>
            </a:r>
          </a:p>
        </p:txBody>
      </p:sp>
      <p:cxnSp>
        <p:nvCxnSpPr>
          <p:cNvPr id="198" name="Connector 197"/>
          <p:cNvCxnSpPr/>
          <p:nvPr/>
        </p:nvCxnSpPr>
        <p:spPr>
          <a:xfrm>
            <a:off x="11088624" y="3383279"/>
            <a:ext cx="0" cy="530353"/>
          </a:xfrm>
          <a:prstGeom prst="line">
            <a:avLst/>
          </a:prstGeom>
          <a:ln w="508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Rectangle 198"/>
          <p:cNvSpPr/>
          <p:nvPr/>
        </p:nvSpPr>
        <p:spPr>
          <a:xfrm>
            <a:off x="10539984" y="3913632"/>
            <a:ext cx="10972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6E4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10539984" y="3913632"/>
            <a:ext cx="36576" cy="292608"/>
          </a:xfrm>
          <a:prstGeom prst="rect">
            <a:avLst/>
          </a:prstGeom>
          <a:solidFill>
            <a:srgbClr val="6E4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10603992" y="3931920"/>
            <a:ext cx="100583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i="1">
                <a:solidFill>
                  <a:srgbClr val="6E479A"/>
                </a:solidFill>
                <a:latin typeface="Calibri"/>
              </a:rPr>
              <a:t>2024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0603992" y="4032504"/>
            <a:ext cx="10058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A1F2C"/>
                </a:solidFill>
                <a:latin typeface="Calibri"/>
              </a:rPr>
              <a:t>Peet's → Riyadh</a:t>
            </a:r>
          </a:p>
        </p:txBody>
      </p:sp>
      <p:cxnSp>
        <p:nvCxnSpPr>
          <p:cNvPr id="203" name="Connector 202"/>
          <p:cNvCxnSpPr/>
          <p:nvPr/>
        </p:nvCxnSpPr>
        <p:spPr>
          <a:xfrm>
            <a:off x="11088624" y="3383279"/>
            <a:ext cx="0" cy="91441"/>
          </a:xfrm>
          <a:prstGeom prst="line">
            <a:avLst/>
          </a:prstGeom>
          <a:ln w="508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Rectangle 203"/>
          <p:cNvSpPr/>
          <p:nvPr/>
        </p:nvSpPr>
        <p:spPr>
          <a:xfrm>
            <a:off x="10539984" y="3474720"/>
            <a:ext cx="10972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6E4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10539984" y="3474720"/>
            <a:ext cx="36576" cy="292608"/>
          </a:xfrm>
          <a:prstGeom prst="rect">
            <a:avLst/>
          </a:prstGeom>
          <a:solidFill>
            <a:srgbClr val="6E4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10603992" y="3493008"/>
            <a:ext cx="100583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i="1">
                <a:solidFill>
                  <a:srgbClr val="6E479A"/>
                </a:solidFill>
                <a:latin typeface="Calibri"/>
              </a:rPr>
              <a:t>2024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0603992" y="3593591"/>
            <a:ext cx="10058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A1F2C"/>
                </a:solidFill>
                <a:latin typeface="Calibri"/>
              </a:rPr>
              <a:t>KK → Morocco</a:t>
            </a:r>
          </a:p>
        </p:txBody>
      </p:sp>
      <p:cxnSp>
        <p:nvCxnSpPr>
          <p:cNvPr id="208" name="Connector 207"/>
          <p:cNvCxnSpPr/>
          <p:nvPr/>
        </p:nvCxnSpPr>
        <p:spPr>
          <a:xfrm>
            <a:off x="11088624" y="3383279"/>
            <a:ext cx="0" cy="310897"/>
          </a:xfrm>
          <a:prstGeom prst="line">
            <a:avLst/>
          </a:prstGeom>
          <a:ln w="508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Rectangle 208"/>
          <p:cNvSpPr/>
          <p:nvPr/>
        </p:nvSpPr>
        <p:spPr>
          <a:xfrm>
            <a:off x="10539984" y="3694176"/>
            <a:ext cx="10972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6E4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10539984" y="3694176"/>
            <a:ext cx="36576" cy="292608"/>
          </a:xfrm>
          <a:prstGeom prst="rect">
            <a:avLst/>
          </a:prstGeom>
          <a:solidFill>
            <a:srgbClr val="6E4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10603992" y="3712463"/>
            <a:ext cx="100583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i="1">
                <a:solidFill>
                  <a:srgbClr val="6E479A"/>
                </a:solidFill>
                <a:latin typeface="Calibri"/>
              </a:rPr>
              <a:t>2024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10603992" y="3813048"/>
            <a:ext cx="10058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A1F2C"/>
                </a:solidFill>
                <a:latin typeface="Calibri"/>
              </a:rPr>
              <a:t>PH 100th KSA</a:t>
            </a:r>
          </a:p>
        </p:txBody>
      </p:sp>
      <p:cxnSp>
        <p:nvCxnSpPr>
          <p:cNvPr id="213" name="Connector 212"/>
          <p:cNvCxnSpPr/>
          <p:nvPr/>
        </p:nvCxnSpPr>
        <p:spPr>
          <a:xfrm>
            <a:off x="11088624" y="3383279"/>
            <a:ext cx="0" cy="530353"/>
          </a:xfrm>
          <a:prstGeom prst="line">
            <a:avLst/>
          </a:prstGeom>
          <a:ln w="508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Rectangle 213"/>
          <p:cNvSpPr/>
          <p:nvPr/>
        </p:nvSpPr>
        <p:spPr>
          <a:xfrm>
            <a:off x="10539984" y="3913632"/>
            <a:ext cx="10972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6E47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10539984" y="3913632"/>
            <a:ext cx="36576" cy="292608"/>
          </a:xfrm>
          <a:prstGeom prst="rect">
            <a:avLst/>
          </a:prstGeom>
          <a:solidFill>
            <a:srgbClr val="6E4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10603992" y="3931920"/>
            <a:ext cx="1005839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1" i="1">
                <a:solidFill>
                  <a:srgbClr val="6E479A"/>
                </a:solidFill>
                <a:latin typeface="Calibri"/>
              </a:rPr>
              <a:t>2024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10603992" y="4032504"/>
            <a:ext cx="10058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A1F2C"/>
                </a:solidFill>
                <a:latin typeface="Calibri"/>
              </a:rPr>
              <a:t>KFC 1,000th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411480" y="4224528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5F6B7E"/>
                </a:solidFill>
                <a:latin typeface="Calibri"/>
              </a:rPr>
              <a:t>COUNTRIES ENTERED</a:t>
            </a:r>
          </a:p>
        </p:txBody>
      </p:sp>
      <p:cxnSp>
        <p:nvCxnSpPr>
          <p:cNvPr id="219" name="Connector 218"/>
          <p:cNvCxnSpPr/>
          <p:nvPr/>
        </p:nvCxnSpPr>
        <p:spPr>
          <a:xfrm flipV="1">
            <a:off x="755904" y="4206240"/>
            <a:ext cx="0" cy="155448"/>
          </a:xfrm>
          <a:prstGeom prst="line">
            <a:avLst/>
          </a:prstGeom>
          <a:ln w="508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0" name="Rectangle 219"/>
          <p:cNvSpPr/>
          <p:nvPr/>
        </p:nvSpPr>
        <p:spPr>
          <a:xfrm>
            <a:off x="411480" y="4361688"/>
            <a:ext cx="1325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F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411480" y="4361688"/>
            <a:ext cx="45720" cy="347472"/>
          </a:xfrm>
          <a:prstGeom prst="rect">
            <a:avLst/>
          </a:prstGeom>
          <a:solidFill>
            <a:srgbClr val="2F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484632" y="4379975"/>
            <a:ext cx="12161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1" i="1">
                <a:solidFill>
                  <a:srgbClr val="2F7A4A"/>
                </a:solidFill>
                <a:latin typeface="Calibri"/>
              </a:rPr>
              <a:t>1964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484632" y="4480559"/>
            <a:ext cx="12161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A1F2C"/>
                </a:solidFill>
                <a:latin typeface="Calibri"/>
              </a:rPr>
              <a:t>Kuwait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484632" y="4617720"/>
            <a:ext cx="1216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5F6B7E"/>
                </a:solidFill>
                <a:latin typeface="Calibri"/>
              </a:rPr>
              <a:t>Origin</a:t>
            </a:r>
          </a:p>
        </p:txBody>
      </p:sp>
      <p:sp>
        <p:nvSpPr>
          <p:cNvPr id="225" name="Oval 224"/>
          <p:cNvSpPr/>
          <p:nvPr/>
        </p:nvSpPr>
        <p:spPr>
          <a:xfrm>
            <a:off x="723900" y="2985515"/>
            <a:ext cx="64008" cy="64008"/>
          </a:xfrm>
          <a:prstGeom prst="ellipse">
            <a:avLst/>
          </a:prstGeom>
          <a:solidFill>
            <a:srgbClr val="2F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6" name="Connector 225"/>
          <p:cNvCxnSpPr/>
          <p:nvPr/>
        </p:nvCxnSpPr>
        <p:spPr>
          <a:xfrm flipV="1">
            <a:off x="2133600" y="4206240"/>
            <a:ext cx="0" cy="598932"/>
          </a:xfrm>
          <a:prstGeom prst="line">
            <a:avLst/>
          </a:prstGeom>
          <a:ln w="508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7" name="Rectangle 226"/>
          <p:cNvSpPr/>
          <p:nvPr/>
        </p:nvSpPr>
        <p:spPr>
          <a:xfrm>
            <a:off x="1470660" y="4805172"/>
            <a:ext cx="1325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F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1470660" y="4805172"/>
            <a:ext cx="45720" cy="347472"/>
          </a:xfrm>
          <a:prstGeom prst="rect">
            <a:avLst/>
          </a:prstGeom>
          <a:solidFill>
            <a:srgbClr val="2F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1543812" y="4823459"/>
            <a:ext cx="12161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1" i="1">
                <a:solidFill>
                  <a:srgbClr val="2F7A4A"/>
                </a:solidFill>
                <a:latin typeface="Calibri"/>
              </a:rPr>
              <a:t>1972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1543812" y="4924044"/>
            <a:ext cx="12161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A1F2C"/>
                </a:solidFill>
                <a:latin typeface="Calibri"/>
              </a:rPr>
              <a:t>Egypt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1543812" y="5061204"/>
            <a:ext cx="1216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5F6B7E"/>
                </a:solidFill>
                <a:latin typeface="Calibri"/>
              </a:rPr>
              <a:t>Chicken Tikka</a:t>
            </a:r>
          </a:p>
        </p:txBody>
      </p:sp>
      <p:sp>
        <p:nvSpPr>
          <p:cNvPr id="232" name="Oval 231"/>
          <p:cNvSpPr/>
          <p:nvPr/>
        </p:nvSpPr>
        <p:spPr>
          <a:xfrm>
            <a:off x="2101596" y="2985515"/>
            <a:ext cx="64008" cy="64008"/>
          </a:xfrm>
          <a:prstGeom prst="ellipse">
            <a:avLst/>
          </a:prstGeom>
          <a:solidFill>
            <a:srgbClr val="2F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3" name="Connector 232"/>
          <p:cNvCxnSpPr/>
          <p:nvPr/>
        </p:nvCxnSpPr>
        <p:spPr>
          <a:xfrm flipV="1">
            <a:off x="3339084" y="4206240"/>
            <a:ext cx="0" cy="1042415"/>
          </a:xfrm>
          <a:prstGeom prst="line">
            <a:avLst/>
          </a:prstGeom>
          <a:ln w="508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Rectangle 233"/>
          <p:cNvSpPr/>
          <p:nvPr/>
        </p:nvSpPr>
        <p:spPr>
          <a:xfrm>
            <a:off x="2676144" y="5248655"/>
            <a:ext cx="1325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F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2676144" y="5248655"/>
            <a:ext cx="45720" cy="347472"/>
          </a:xfrm>
          <a:prstGeom prst="rect">
            <a:avLst/>
          </a:prstGeom>
          <a:solidFill>
            <a:srgbClr val="2F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2749296" y="5266943"/>
            <a:ext cx="12161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1" i="1">
                <a:solidFill>
                  <a:srgbClr val="2F7A4A"/>
                </a:solidFill>
                <a:latin typeface="Calibri"/>
              </a:rPr>
              <a:t>1979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749296" y="5367527"/>
            <a:ext cx="12161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A1F2C"/>
                </a:solidFill>
                <a:latin typeface="Calibri"/>
              </a:rPr>
              <a:t>UAE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2749296" y="5504688"/>
            <a:ext cx="1216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5F6B7E"/>
                </a:solidFill>
                <a:latin typeface="Calibri"/>
              </a:rPr>
              <a:t>Pizza Hut</a:t>
            </a:r>
          </a:p>
        </p:txBody>
      </p:sp>
      <p:sp>
        <p:nvSpPr>
          <p:cNvPr id="239" name="Oval 238"/>
          <p:cNvSpPr/>
          <p:nvPr/>
        </p:nvSpPr>
        <p:spPr>
          <a:xfrm>
            <a:off x="3307080" y="2985515"/>
            <a:ext cx="64008" cy="64008"/>
          </a:xfrm>
          <a:prstGeom prst="ellipse">
            <a:avLst/>
          </a:prstGeom>
          <a:solidFill>
            <a:srgbClr val="2F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0" name="Connector 239"/>
          <p:cNvCxnSpPr/>
          <p:nvPr/>
        </p:nvCxnSpPr>
        <p:spPr>
          <a:xfrm flipV="1">
            <a:off x="3511296" y="4206240"/>
            <a:ext cx="0" cy="155448"/>
          </a:xfrm>
          <a:prstGeom prst="line">
            <a:avLst/>
          </a:prstGeom>
          <a:ln w="508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1" name="Rectangle 240"/>
          <p:cNvSpPr/>
          <p:nvPr/>
        </p:nvSpPr>
        <p:spPr>
          <a:xfrm>
            <a:off x="2848356" y="4361688"/>
            <a:ext cx="1325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F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2848356" y="4361688"/>
            <a:ext cx="45720" cy="347472"/>
          </a:xfrm>
          <a:prstGeom prst="rect">
            <a:avLst/>
          </a:prstGeom>
          <a:solidFill>
            <a:srgbClr val="2F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2921508" y="4379975"/>
            <a:ext cx="12161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1" i="1">
                <a:solidFill>
                  <a:srgbClr val="2F7A4A"/>
                </a:solidFill>
                <a:latin typeface="Calibri"/>
              </a:rPr>
              <a:t>1980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2921508" y="4480559"/>
            <a:ext cx="12161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A1F2C"/>
                </a:solidFill>
                <a:latin typeface="Calibri"/>
              </a:rPr>
              <a:t>KSA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2921508" y="4617720"/>
            <a:ext cx="1216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5F6B7E"/>
                </a:solidFill>
                <a:latin typeface="Calibri"/>
              </a:rPr>
              <a:t>Hardee's</a:t>
            </a:r>
          </a:p>
        </p:txBody>
      </p:sp>
      <p:sp>
        <p:nvSpPr>
          <p:cNvPr id="246" name="Oval 245"/>
          <p:cNvSpPr/>
          <p:nvPr/>
        </p:nvSpPr>
        <p:spPr>
          <a:xfrm>
            <a:off x="3479292" y="2985515"/>
            <a:ext cx="64008" cy="64008"/>
          </a:xfrm>
          <a:prstGeom prst="ellipse">
            <a:avLst/>
          </a:prstGeom>
          <a:solidFill>
            <a:srgbClr val="2F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7" name="Connector 246"/>
          <p:cNvCxnSpPr/>
          <p:nvPr/>
        </p:nvCxnSpPr>
        <p:spPr>
          <a:xfrm flipV="1">
            <a:off x="4372356" y="4206240"/>
            <a:ext cx="0" cy="598932"/>
          </a:xfrm>
          <a:prstGeom prst="line">
            <a:avLst/>
          </a:prstGeom>
          <a:ln w="508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8" name="Rectangle 247"/>
          <p:cNvSpPr/>
          <p:nvPr/>
        </p:nvSpPr>
        <p:spPr>
          <a:xfrm>
            <a:off x="3709416" y="4805172"/>
            <a:ext cx="1325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6FA3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3709416" y="4805172"/>
            <a:ext cx="45720" cy="347472"/>
          </a:xfrm>
          <a:prstGeom prst="rect">
            <a:avLst/>
          </a:prstGeom>
          <a:solidFill>
            <a:srgbClr val="6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3782568" y="4823459"/>
            <a:ext cx="12161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1" i="1">
                <a:solidFill>
                  <a:srgbClr val="6FA383"/>
                </a:solidFill>
                <a:latin typeface="Calibri"/>
              </a:rPr>
              <a:t>~1985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3782568" y="4924044"/>
            <a:ext cx="12161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A1F2C"/>
                </a:solidFill>
                <a:latin typeface="Calibri"/>
              </a:rPr>
              <a:t>Bahrain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3782568" y="5061204"/>
            <a:ext cx="1216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1">
                <a:solidFill>
                  <a:srgbClr val="5F6B7E"/>
                </a:solidFill>
                <a:latin typeface="Calibri"/>
              </a:rPr>
              <a:t>Early GCC ~ est.</a:t>
            </a:r>
          </a:p>
        </p:txBody>
      </p:sp>
      <p:sp>
        <p:nvSpPr>
          <p:cNvPr id="253" name="Oval 252"/>
          <p:cNvSpPr/>
          <p:nvPr/>
        </p:nvSpPr>
        <p:spPr>
          <a:xfrm>
            <a:off x="4340352" y="2985515"/>
            <a:ext cx="64008" cy="64008"/>
          </a:xfrm>
          <a:prstGeom prst="ellipse">
            <a:avLst/>
          </a:prstGeom>
          <a:solidFill>
            <a:srgbClr val="6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4" name="Connector 253"/>
          <p:cNvCxnSpPr/>
          <p:nvPr/>
        </p:nvCxnSpPr>
        <p:spPr>
          <a:xfrm flipV="1">
            <a:off x="4888992" y="4206240"/>
            <a:ext cx="0" cy="1042415"/>
          </a:xfrm>
          <a:prstGeom prst="line">
            <a:avLst/>
          </a:prstGeom>
          <a:ln w="508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5" name="Rectangle 254"/>
          <p:cNvSpPr/>
          <p:nvPr/>
        </p:nvSpPr>
        <p:spPr>
          <a:xfrm>
            <a:off x="4226052" y="5248655"/>
            <a:ext cx="1325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6FA3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4226052" y="5248655"/>
            <a:ext cx="45720" cy="347472"/>
          </a:xfrm>
          <a:prstGeom prst="rect">
            <a:avLst/>
          </a:prstGeom>
          <a:solidFill>
            <a:srgbClr val="6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4299204" y="5266943"/>
            <a:ext cx="12161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1" i="1">
                <a:solidFill>
                  <a:srgbClr val="6FA383"/>
                </a:solidFill>
                <a:latin typeface="Calibri"/>
              </a:rPr>
              <a:t>~1988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4299204" y="5367527"/>
            <a:ext cx="12161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A1F2C"/>
                </a:solidFill>
                <a:latin typeface="Calibri"/>
              </a:rPr>
              <a:t>Qatar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4299204" y="5504688"/>
            <a:ext cx="1216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1">
                <a:solidFill>
                  <a:srgbClr val="5F6B7E"/>
                </a:solidFill>
                <a:latin typeface="Calibri"/>
              </a:rPr>
              <a:t>GCC expansion ~ est.</a:t>
            </a:r>
          </a:p>
        </p:txBody>
      </p:sp>
      <p:sp>
        <p:nvSpPr>
          <p:cNvPr id="260" name="Oval 259"/>
          <p:cNvSpPr/>
          <p:nvPr/>
        </p:nvSpPr>
        <p:spPr>
          <a:xfrm>
            <a:off x="4856988" y="2985515"/>
            <a:ext cx="64008" cy="64008"/>
          </a:xfrm>
          <a:prstGeom prst="ellipse">
            <a:avLst/>
          </a:prstGeom>
          <a:solidFill>
            <a:srgbClr val="6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1" name="Connector 260"/>
          <p:cNvCxnSpPr/>
          <p:nvPr/>
        </p:nvCxnSpPr>
        <p:spPr>
          <a:xfrm flipV="1">
            <a:off x="5577840" y="4206240"/>
            <a:ext cx="0" cy="155448"/>
          </a:xfrm>
          <a:prstGeom prst="line">
            <a:avLst/>
          </a:prstGeom>
          <a:ln w="508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Rectangle 261"/>
          <p:cNvSpPr/>
          <p:nvPr/>
        </p:nvSpPr>
        <p:spPr>
          <a:xfrm>
            <a:off x="4914900" y="4361688"/>
            <a:ext cx="1325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6FA3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4914900" y="4361688"/>
            <a:ext cx="45720" cy="347472"/>
          </a:xfrm>
          <a:prstGeom prst="rect">
            <a:avLst/>
          </a:prstGeom>
          <a:solidFill>
            <a:srgbClr val="6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4988052" y="4379975"/>
            <a:ext cx="12161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1" i="1">
                <a:solidFill>
                  <a:srgbClr val="6FA383"/>
                </a:solidFill>
                <a:latin typeface="Calibri"/>
              </a:rPr>
              <a:t>~1992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4988052" y="4480559"/>
            <a:ext cx="12161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A1F2C"/>
                </a:solidFill>
                <a:latin typeface="Calibri"/>
              </a:rPr>
              <a:t>Oman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4988052" y="4617720"/>
            <a:ext cx="1216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1">
                <a:solidFill>
                  <a:srgbClr val="5F6B7E"/>
                </a:solidFill>
                <a:latin typeface="Calibri"/>
              </a:rPr>
              <a:t>GCC ~ est.</a:t>
            </a:r>
          </a:p>
        </p:txBody>
      </p:sp>
      <p:sp>
        <p:nvSpPr>
          <p:cNvPr id="267" name="Oval 266"/>
          <p:cNvSpPr/>
          <p:nvPr/>
        </p:nvSpPr>
        <p:spPr>
          <a:xfrm>
            <a:off x="5545836" y="2985515"/>
            <a:ext cx="64008" cy="64008"/>
          </a:xfrm>
          <a:prstGeom prst="ellipse">
            <a:avLst/>
          </a:prstGeom>
          <a:solidFill>
            <a:srgbClr val="6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8" name="Connector 267"/>
          <p:cNvCxnSpPr/>
          <p:nvPr/>
        </p:nvCxnSpPr>
        <p:spPr>
          <a:xfrm flipV="1">
            <a:off x="6094476" y="4206240"/>
            <a:ext cx="0" cy="598932"/>
          </a:xfrm>
          <a:prstGeom prst="line">
            <a:avLst/>
          </a:prstGeom>
          <a:ln w="508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Rectangle 268"/>
          <p:cNvSpPr/>
          <p:nvPr/>
        </p:nvSpPr>
        <p:spPr>
          <a:xfrm>
            <a:off x="5431536" y="4805172"/>
            <a:ext cx="1325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6FA3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5431536" y="4805172"/>
            <a:ext cx="45720" cy="347472"/>
          </a:xfrm>
          <a:prstGeom prst="rect">
            <a:avLst/>
          </a:prstGeom>
          <a:solidFill>
            <a:srgbClr val="6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5504688" y="4823459"/>
            <a:ext cx="12161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1" i="1">
                <a:solidFill>
                  <a:srgbClr val="6FA383"/>
                </a:solidFill>
                <a:latin typeface="Calibri"/>
              </a:rPr>
              <a:t>~1995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5504688" y="4924044"/>
            <a:ext cx="12161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A1F2C"/>
                </a:solidFill>
                <a:latin typeface="Calibri"/>
              </a:rPr>
              <a:t>Jordan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5504688" y="5061204"/>
            <a:ext cx="1216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1">
                <a:solidFill>
                  <a:srgbClr val="5F6B7E"/>
                </a:solidFill>
                <a:latin typeface="Calibri"/>
              </a:rPr>
              <a:t>Levant ~ est.</a:t>
            </a:r>
          </a:p>
        </p:txBody>
      </p:sp>
      <p:sp>
        <p:nvSpPr>
          <p:cNvPr id="274" name="Oval 273"/>
          <p:cNvSpPr/>
          <p:nvPr/>
        </p:nvSpPr>
        <p:spPr>
          <a:xfrm>
            <a:off x="6062472" y="2985515"/>
            <a:ext cx="64008" cy="64008"/>
          </a:xfrm>
          <a:prstGeom prst="ellipse">
            <a:avLst/>
          </a:prstGeom>
          <a:solidFill>
            <a:srgbClr val="6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5" name="Connector 274"/>
          <p:cNvCxnSpPr/>
          <p:nvPr/>
        </p:nvCxnSpPr>
        <p:spPr>
          <a:xfrm flipV="1">
            <a:off x="6955536" y="4206240"/>
            <a:ext cx="0" cy="1042415"/>
          </a:xfrm>
          <a:prstGeom prst="line">
            <a:avLst/>
          </a:prstGeom>
          <a:ln w="508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6" name="Rectangle 275"/>
          <p:cNvSpPr/>
          <p:nvPr/>
        </p:nvSpPr>
        <p:spPr>
          <a:xfrm>
            <a:off x="6292596" y="5248655"/>
            <a:ext cx="1325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6FA3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6292596" y="5248655"/>
            <a:ext cx="45720" cy="347472"/>
          </a:xfrm>
          <a:prstGeom prst="rect">
            <a:avLst/>
          </a:prstGeom>
          <a:solidFill>
            <a:srgbClr val="6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6365748" y="5266943"/>
            <a:ext cx="12161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1" i="1">
                <a:solidFill>
                  <a:srgbClr val="6FA383"/>
                </a:solidFill>
                <a:latin typeface="Calibri"/>
              </a:rPr>
              <a:t>~2000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6365748" y="5367527"/>
            <a:ext cx="12161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A1F2C"/>
                </a:solidFill>
                <a:latin typeface="Calibri"/>
              </a:rPr>
              <a:t>Lebanon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6365748" y="5504688"/>
            <a:ext cx="1216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1">
                <a:solidFill>
                  <a:srgbClr val="5F6B7E"/>
                </a:solidFill>
                <a:latin typeface="Calibri"/>
              </a:rPr>
              <a:t>Levant ~ est.</a:t>
            </a:r>
          </a:p>
        </p:txBody>
      </p:sp>
      <p:sp>
        <p:nvSpPr>
          <p:cNvPr id="281" name="Oval 280"/>
          <p:cNvSpPr/>
          <p:nvPr/>
        </p:nvSpPr>
        <p:spPr>
          <a:xfrm>
            <a:off x="6923532" y="2985515"/>
            <a:ext cx="64008" cy="64008"/>
          </a:xfrm>
          <a:prstGeom prst="ellipse">
            <a:avLst/>
          </a:prstGeom>
          <a:solidFill>
            <a:srgbClr val="6FA3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2" name="Connector 281"/>
          <p:cNvCxnSpPr/>
          <p:nvPr/>
        </p:nvCxnSpPr>
        <p:spPr>
          <a:xfrm flipV="1">
            <a:off x="7127748" y="4206240"/>
            <a:ext cx="0" cy="155448"/>
          </a:xfrm>
          <a:prstGeom prst="line">
            <a:avLst/>
          </a:prstGeom>
          <a:ln w="508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Rectangle 282"/>
          <p:cNvSpPr/>
          <p:nvPr/>
        </p:nvSpPr>
        <p:spPr>
          <a:xfrm>
            <a:off x="6464808" y="4361688"/>
            <a:ext cx="1325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F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6464808" y="4361688"/>
            <a:ext cx="45720" cy="347472"/>
          </a:xfrm>
          <a:prstGeom prst="rect">
            <a:avLst/>
          </a:prstGeom>
          <a:solidFill>
            <a:srgbClr val="2F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6537960" y="4379975"/>
            <a:ext cx="12161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1" i="1">
                <a:solidFill>
                  <a:srgbClr val="2F7A4A"/>
                </a:solidFill>
                <a:latin typeface="Calibri"/>
              </a:rPr>
              <a:t>2001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6537960" y="4480559"/>
            <a:ext cx="12161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A1F2C"/>
                </a:solidFill>
                <a:latin typeface="Calibri"/>
              </a:rPr>
              <a:t>Morocco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6537960" y="4617720"/>
            <a:ext cx="1216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5F6B7E"/>
                </a:solidFill>
                <a:latin typeface="Calibri"/>
              </a:rPr>
              <a:t>N. Africa</a:t>
            </a:r>
          </a:p>
        </p:txBody>
      </p:sp>
      <p:sp>
        <p:nvSpPr>
          <p:cNvPr id="288" name="Oval 287"/>
          <p:cNvSpPr/>
          <p:nvPr/>
        </p:nvSpPr>
        <p:spPr>
          <a:xfrm>
            <a:off x="7095744" y="2985515"/>
            <a:ext cx="64008" cy="64008"/>
          </a:xfrm>
          <a:prstGeom prst="ellipse">
            <a:avLst/>
          </a:prstGeom>
          <a:solidFill>
            <a:srgbClr val="2F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9" name="Connector 288"/>
          <p:cNvCxnSpPr/>
          <p:nvPr/>
        </p:nvCxnSpPr>
        <p:spPr>
          <a:xfrm flipV="1">
            <a:off x="8333232" y="4206240"/>
            <a:ext cx="0" cy="598932"/>
          </a:xfrm>
          <a:prstGeom prst="line">
            <a:avLst/>
          </a:prstGeom>
          <a:ln w="508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0" name="Rectangle 289"/>
          <p:cNvSpPr/>
          <p:nvPr/>
        </p:nvSpPr>
        <p:spPr>
          <a:xfrm>
            <a:off x="7670292" y="4805172"/>
            <a:ext cx="1325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F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7670292" y="4805172"/>
            <a:ext cx="45720" cy="347472"/>
          </a:xfrm>
          <a:prstGeom prst="rect">
            <a:avLst/>
          </a:prstGeom>
          <a:solidFill>
            <a:srgbClr val="2F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7743444" y="4823459"/>
            <a:ext cx="12161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1" i="1">
                <a:solidFill>
                  <a:srgbClr val="2F7A4A"/>
                </a:solidFill>
                <a:latin typeface="Calibri"/>
              </a:rPr>
              <a:t>2008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7743444" y="4924044"/>
            <a:ext cx="12161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A1F2C"/>
                </a:solidFill>
                <a:latin typeface="Calibri"/>
              </a:rPr>
              <a:t>Kazakhstan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7743444" y="5061204"/>
            <a:ext cx="1216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5F6B7E"/>
                </a:solidFill>
                <a:latin typeface="Calibri"/>
              </a:rPr>
              <a:t>C. Asia</a:t>
            </a:r>
          </a:p>
        </p:txBody>
      </p:sp>
      <p:sp>
        <p:nvSpPr>
          <p:cNvPr id="295" name="Oval 294"/>
          <p:cNvSpPr/>
          <p:nvPr/>
        </p:nvSpPr>
        <p:spPr>
          <a:xfrm>
            <a:off x="8301228" y="2985515"/>
            <a:ext cx="64008" cy="64008"/>
          </a:xfrm>
          <a:prstGeom prst="ellipse">
            <a:avLst/>
          </a:prstGeom>
          <a:solidFill>
            <a:srgbClr val="2F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6" name="Connector 295"/>
          <p:cNvCxnSpPr/>
          <p:nvPr/>
        </p:nvCxnSpPr>
        <p:spPr>
          <a:xfrm flipV="1">
            <a:off x="9366504" y="4206240"/>
            <a:ext cx="0" cy="1042415"/>
          </a:xfrm>
          <a:prstGeom prst="line">
            <a:avLst/>
          </a:prstGeom>
          <a:ln w="5080">
            <a:solidFill>
              <a:srgbClr val="D0D7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7" name="Rectangle 296"/>
          <p:cNvSpPr/>
          <p:nvPr/>
        </p:nvSpPr>
        <p:spPr>
          <a:xfrm>
            <a:off x="8703564" y="5248655"/>
            <a:ext cx="13258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F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8703564" y="5248655"/>
            <a:ext cx="45720" cy="347472"/>
          </a:xfrm>
          <a:prstGeom prst="rect">
            <a:avLst/>
          </a:prstGeom>
          <a:solidFill>
            <a:srgbClr val="2F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TextBox 298"/>
          <p:cNvSpPr txBox="1"/>
          <p:nvPr/>
        </p:nvSpPr>
        <p:spPr>
          <a:xfrm>
            <a:off x="8776716" y="5266943"/>
            <a:ext cx="121615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1" i="1">
                <a:solidFill>
                  <a:srgbClr val="2F7A4A"/>
                </a:solidFill>
                <a:latin typeface="Calibri"/>
              </a:rPr>
              <a:t>2014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8776716" y="5367527"/>
            <a:ext cx="121615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A1F2C"/>
                </a:solidFill>
                <a:latin typeface="Calibri"/>
              </a:rPr>
              <a:t>Iraq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8776716" y="5504688"/>
            <a:ext cx="121615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 i="0">
                <a:solidFill>
                  <a:srgbClr val="5F6B7E"/>
                </a:solidFill>
                <a:latin typeface="Calibri"/>
              </a:rPr>
              <a:t>Kurdistan greenfield</a:t>
            </a:r>
          </a:p>
        </p:txBody>
      </p:sp>
      <p:sp>
        <p:nvSpPr>
          <p:cNvPr id="302" name="Oval 301"/>
          <p:cNvSpPr/>
          <p:nvPr/>
        </p:nvSpPr>
        <p:spPr>
          <a:xfrm>
            <a:off x="9334500" y="2985515"/>
            <a:ext cx="64008" cy="64008"/>
          </a:xfrm>
          <a:prstGeom prst="ellipse">
            <a:avLst/>
          </a:prstGeom>
          <a:solidFill>
            <a:srgbClr val="2F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411480" y="5522976"/>
            <a:ext cx="11365992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 i="1">
                <a:solidFill>
                  <a:srgbClr val="5F6B7E"/>
                </a:solidFill>
                <a:latin typeface="Calibri"/>
              </a:rPr>
              <a:t>Note: '~' = year estimated. 'Our Journey' disclosure does not individually date Bahrain/Qatar/Oman/Jordan/Lebanon entries.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274320" y="5650992"/>
            <a:ext cx="11640312" cy="594360"/>
          </a:xfrm>
          <a:prstGeom prst="rect">
            <a:avLst/>
          </a:prstGeom>
          <a:solidFill>
            <a:srgbClr val="0F2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>
            <a:off x="411480" y="576986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TODAY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411480" y="5971031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 i="1">
                <a:solidFill>
                  <a:srgbClr val="C0CBDC"/>
                </a:solidFill>
                <a:latin typeface="Calibri"/>
              </a:rPr>
              <a:t>(1Q26)</a:t>
            </a:r>
          </a:p>
        </p:txBody>
      </p:sp>
      <p:sp>
        <p:nvSpPr>
          <p:cNvPr id="307" name="TextBox 306"/>
          <p:cNvSpPr txBox="1"/>
          <p:nvPr/>
        </p:nvSpPr>
        <p:spPr>
          <a:xfrm>
            <a:off x="1097280" y="5715000"/>
            <a:ext cx="18028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1097280" y="6016752"/>
            <a:ext cx="18028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1">
                <a:solidFill>
                  <a:srgbClr val="C0CBDC"/>
                </a:solidFill>
                <a:latin typeface="Calibri"/>
              </a:rPr>
              <a:t>brands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2900172" y="5715000"/>
            <a:ext cx="18028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2900172" y="6016752"/>
            <a:ext cx="18028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1">
                <a:solidFill>
                  <a:srgbClr val="C0CBDC"/>
                </a:solidFill>
                <a:latin typeface="Calibri"/>
              </a:rPr>
              <a:t>countries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4703064" y="5715000"/>
            <a:ext cx="18028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2,741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4703064" y="6016752"/>
            <a:ext cx="18028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1">
                <a:solidFill>
                  <a:srgbClr val="C0CBDC"/>
                </a:solidFill>
                <a:latin typeface="Calibri"/>
              </a:rPr>
              <a:t>restaurants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6505956" y="5715000"/>
            <a:ext cx="18028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$2.6 bn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6505956" y="6016752"/>
            <a:ext cx="18028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1">
                <a:solidFill>
                  <a:srgbClr val="C0CBDC"/>
                </a:solidFill>
                <a:latin typeface="Calibri"/>
              </a:rPr>
              <a:t>LTM revenue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8308847" y="5715000"/>
            <a:ext cx="18028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$14 bn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8308847" y="6016752"/>
            <a:ext cx="18028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1">
                <a:solidFill>
                  <a:srgbClr val="C0CBDC"/>
                </a:solidFill>
                <a:latin typeface="Calibri"/>
              </a:rPr>
              <a:t>market cap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10111740" y="5715000"/>
            <a:ext cx="18028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66.03%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10111740" y="6016752"/>
            <a:ext cx="18028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 i="1">
                <a:solidFill>
                  <a:srgbClr val="C0CBDC"/>
                </a:solidFill>
                <a:latin typeface="Calibri"/>
              </a:rPr>
              <a:t>Adeptio stake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274320" y="6309360"/>
            <a:ext cx="1164031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1">
                <a:solidFill>
                  <a:srgbClr val="5F6B7E"/>
                </a:solidFill>
                <a:latin typeface="Calibri"/>
              </a:rPr>
              <a:t>Sources: FY25 AR p.30-31 'Our Journey' &amp; brand-by-brand pages · FY24 AR p.28-30 · FY23 AR p.20 'Restaurants by brand' · Q1 26 IP · UAE Prospectus (Nov 2022) p.52. Approximated country entry years for Bahrain (~1985), Qatar (~1988), Oman (~1992), Jordan (~1995), Lebanon (~2000) based on typical sequencing of GCC + Levant expansion — exact years not individually disclosed.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Americana Restaurants — Analyst Learning Pack</dc:title>
  <dc:subject>PptxGenJS Presentation</dc:subject>
  <dc:creator>Analyst Desk</dc:creator>
  <cp:lastModifiedBy>Analyst Desk</cp:lastModifiedBy>
  <cp:revision>1</cp:revision>
  <dcterms:created xsi:type="dcterms:W3CDTF">2026-06-08T15:52:04Z</dcterms:created>
  <dcterms:modified xsi:type="dcterms:W3CDTF">2026-06-08T15:52:04Z</dcterms:modified>
</cp:coreProperties>
</file>